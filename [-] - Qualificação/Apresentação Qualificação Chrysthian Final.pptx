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5" r:id="rId2"/>
    <p:sldMasterId id="2147483678" r:id="rId3"/>
    <p:sldMasterId id="2147483684" r:id="rId4"/>
  </p:sldMasterIdLst>
  <p:notesMasterIdLst>
    <p:notesMasterId r:id="rId28"/>
  </p:notesMasterIdLst>
  <p:sldIdLst>
    <p:sldId id="256" r:id="rId5"/>
    <p:sldId id="300" r:id="rId6"/>
    <p:sldId id="303" r:id="rId7"/>
    <p:sldId id="258" r:id="rId8"/>
    <p:sldId id="279" r:id="rId9"/>
    <p:sldId id="294" r:id="rId10"/>
    <p:sldId id="295" r:id="rId11"/>
    <p:sldId id="296" r:id="rId12"/>
    <p:sldId id="297" r:id="rId13"/>
    <p:sldId id="280" r:id="rId14"/>
    <p:sldId id="291" r:id="rId15"/>
    <p:sldId id="276" r:id="rId16"/>
    <p:sldId id="277" r:id="rId17"/>
    <p:sldId id="278" r:id="rId18"/>
    <p:sldId id="282" r:id="rId19"/>
    <p:sldId id="287" r:id="rId20"/>
    <p:sldId id="283" r:id="rId21"/>
    <p:sldId id="285" r:id="rId22"/>
    <p:sldId id="302" r:id="rId23"/>
    <p:sldId id="298" r:id="rId24"/>
    <p:sldId id="281" r:id="rId25"/>
    <p:sldId id="299" r:id="rId26"/>
    <p:sldId id="289" r:id="rId2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000000"/>
                </a:solidFill>
                <a:latin typeface="Arial"/>
              </a:rPr>
              <a:t>Sensores por frequência de uso (16 estudos)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estudos</c:v>
                </c:pt>
              </c:strCache>
            </c:strRef>
          </c:tx>
          <c:spPr>
            <a:solidFill>
              <a:srgbClr val="2C6E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9D-4FB1-9AE0-8FEFB37B918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9D-4FB1-9AE0-8FEFB37B9180}"/>
              </c:ext>
            </c:extLst>
          </c:dPt>
          <c:dPt>
            <c:idx val="2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9D-4FB1-9AE0-8FEFB37B9180}"/>
              </c:ext>
            </c:extLst>
          </c:dPt>
          <c:dPt>
            <c:idx val="3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9D-4FB1-9AE0-8FEFB37B9180}"/>
              </c:ext>
            </c:extLst>
          </c:dPt>
          <c:dPt>
            <c:idx val="4"/>
            <c:invertIfNegative val="0"/>
            <c:bubble3D val="0"/>
            <c:spPr>
              <a:solidFill>
                <a:srgbClr val="A8D5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9D-4FB1-9AE0-8FEFB37B91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Pressão (FSR)</c:v>
                </c:pt>
                <c:pt idx="1">
                  <c:v>Temperatura</c:v>
                </c:pt>
                <c:pt idx="2">
                  <c:v>Umidade</c:v>
                </c:pt>
                <c:pt idx="3">
                  <c:v>Oxigenação</c:v>
                </c:pt>
                <c:pt idx="4">
                  <c:v>Acelerômetro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9D-4FB1-9AE0-8FEFB37B91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000" b="0" i="0" u="none" strike="noStrike">
                <a:solidFill>
                  <a:srgbClr val="000000"/>
                </a:solidFill>
                <a:latin typeface="Arial"/>
              </a:rPr>
              <a:t>Algoritmos por frequência de uso (16 estudos)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estudos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4DA-43D7-BFCA-27D964EB8935}"/>
              </c:ext>
            </c:extLst>
          </c:dPt>
          <c:dPt>
            <c:idx val="1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4DA-43D7-BFCA-27D964EB8935}"/>
              </c:ext>
            </c:extLst>
          </c:dPt>
          <c:dPt>
            <c:idx val="2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4DA-43D7-BFCA-27D964EB8935}"/>
              </c:ext>
            </c:extLst>
          </c:dPt>
          <c:dPt>
            <c:idx val="3"/>
            <c:invertIfNegative val="0"/>
            <c:bubble3D val="0"/>
            <c:spPr>
              <a:solidFill>
                <a:srgbClr val="4A9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24DA-43D7-BFCA-27D964EB8935}"/>
              </c:ext>
            </c:extLst>
          </c:dPt>
          <c:dPt>
            <c:idx val="4"/>
            <c:invertIfNegative val="0"/>
            <c:bubble3D val="0"/>
            <c:spPr>
              <a:solidFill>
                <a:srgbClr val="4A9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24DA-43D7-BFCA-27D964EB8935}"/>
              </c:ext>
            </c:extLst>
          </c:dPt>
          <c:dPt>
            <c:idx val="5"/>
            <c:invertIfNegative val="0"/>
            <c:bubble3D val="0"/>
            <c:spPr>
              <a:solidFill>
                <a:srgbClr val="7DB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24DA-43D7-BFCA-27D964EB8935}"/>
              </c:ext>
            </c:extLst>
          </c:dPt>
          <c:dPt>
            <c:idx val="6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24DA-43D7-BFCA-27D964EB89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Random Forest</c:v>
                </c:pt>
                <c:pt idx="1">
                  <c:v>KNN</c:v>
                </c:pt>
                <c:pt idx="2">
                  <c:v>LSTM</c:v>
                </c:pt>
                <c:pt idx="3">
                  <c:v>CNN</c:v>
                </c:pt>
                <c:pt idx="4">
                  <c:v>SVM</c:v>
                </c:pt>
                <c:pt idx="5">
                  <c:v>AdaBoost</c:v>
                </c:pt>
                <c:pt idx="6">
                  <c:v>Sem 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4DA-43D7-BFCA-27D964EB89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98697-069B-4027-B735-EB22068E6AC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A55C6-0D80-463C-8FD9-BE9001F2B2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62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8">
            <a:extLst>
              <a:ext uri="{FF2B5EF4-FFF2-40B4-BE49-F238E27FC236}">
                <a16:creationId xmlns:a16="http://schemas.microsoft.com/office/drawing/2014/main" id="{A5A59EEA-B444-ECD6-2B3E-E46D181C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Shape 89">
            <a:extLst>
              <a:ext uri="{FF2B5EF4-FFF2-40B4-BE49-F238E27FC236}">
                <a16:creationId xmlns:a16="http://schemas.microsoft.com/office/drawing/2014/main" id="{FAC313B1-73FE-8730-7A7D-1F10039FC1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Divide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CB207F-6ACF-4833-BE92-75C7DF70033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1-Layout13-cust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>
            <a:extLst>
              <a:ext uri="{FF2B5EF4-FFF2-40B4-BE49-F238E27FC236}">
                <a16:creationId xmlns:a16="http://schemas.microsoft.com/office/drawing/2014/main" id="{FBF55B6A-137D-AF39-80D4-5057B2ECA5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8922" y="2387251"/>
            <a:ext cx="3636596" cy="2258997"/>
          </a:xfrm>
        </p:spPr>
        <p:txBody>
          <a:bodyPr lIns="91421" tIns="91421" rIns="91421" bIns="91421" anchor="t"/>
          <a:lstStyle>
            <a:lvl1pPr>
              <a:defRPr sz="3000" b="1">
                <a:solidFill>
                  <a:srgbClr val="F67031"/>
                </a:solidFill>
              </a:defRPr>
            </a:lvl1pPr>
          </a:lstStyle>
          <a:p>
            <a:pPr lvl="0"/>
            <a:endParaRPr lang="pt-BR"/>
          </a:p>
        </p:txBody>
      </p:sp>
      <p:pic>
        <p:nvPicPr>
          <p:cNvPr id="3" name="Picture 11" descr="logo_uerj_cor.png">
            <a:extLst>
              <a:ext uri="{FF2B5EF4-FFF2-40B4-BE49-F238E27FC236}">
                <a16:creationId xmlns:a16="http://schemas.microsoft.com/office/drawing/2014/main" id="{BA430183-E31D-2138-2DAB-523550E8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3" y="555571"/>
            <a:ext cx="495083" cy="5448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m 2" descr="Logotipo&#10;&#10;Descrição gerada automaticamente">
            <a:extLst>
              <a:ext uri="{FF2B5EF4-FFF2-40B4-BE49-F238E27FC236}">
                <a16:creationId xmlns:a16="http://schemas.microsoft.com/office/drawing/2014/main" id="{67C05E8B-52E4-3CF7-C7BF-E324EF7F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85" y="532427"/>
            <a:ext cx="456907" cy="56220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F498011D-9275-524F-E589-8EEFF27E9166}"/>
              </a:ext>
            </a:extLst>
          </p:cNvPr>
          <p:cNvCxnSpPr/>
          <p:nvPr/>
        </p:nvCxnSpPr>
        <p:spPr>
          <a:xfrm rot="5400013">
            <a:off x="658203" y="853354"/>
            <a:ext cx="592476" cy="0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pic>
        <p:nvPicPr>
          <p:cNvPr id="6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0ADEB577-CAFD-91F1-5D58-09CAC7771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436" y="362833"/>
            <a:ext cx="964371" cy="8988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123352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ster1-Layout16-cust-Title-+-2-columns-with-intro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1-Layout14-cust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88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35960" y="528840"/>
            <a:ext cx="8272080" cy="89208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2100" b="0" strike="noStrike" cap="all" spc="-1">
                <a:solidFill>
                  <a:srgbClr val="FFFFFF"/>
                </a:solidFill>
                <a:latin typeface="Gill Sans MT"/>
              </a:rPr>
              <a:t>Clique para editar o título Mestre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35960" y="1752120"/>
            <a:ext cx="8272080" cy="2642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9320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rgbClr val="455F51"/>
                </a:solidFill>
                <a:latin typeface="Gill Sans MT"/>
              </a:rPr>
              <a:t>Clique para editar os estilos de texto Mestres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472320" lvl="1" indent="-22932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strike="noStrike" spc="-1">
                <a:solidFill>
                  <a:srgbClr val="455F51"/>
                </a:solidFill>
                <a:latin typeface="Gill Sans MT"/>
              </a:rPr>
              <a:t>Segundo nível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675000" lvl="2" indent="-202680">
              <a:lnSpc>
                <a:spcPct val="100000"/>
              </a:lnSpc>
              <a:spcBef>
                <a:spcPts val="300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050" b="0" strike="noStrike" spc="-1">
                <a:solidFill>
                  <a:srgbClr val="455F51"/>
                </a:solidFill>
                <a:latin typeface="Gill Sans MT"/>
              </a:rPr>
              <a:t>Terceiro nível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931320" lvl="3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Quarto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1201680" lvl="4" indent="-175680">
              <a:lnSpc>
                <a:spcPct val="100000"/>
              </a:lnSpc>
              <a:spcBef>
                <a:spcPts val="201"/>
              </a:spcBef>
              <a:spcAft>
                <a:spcPts val="4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900" b="0" strike="noStrike" spc="-1">
                <a:solidFill>
                  <a:srgbClr val="455F51"/>
                </a:solidFill>
                <a:latin typeface="Gill Sans MT"/>
              </a:rPr>
              <a:t>Quinto nível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04560" y="4467240"/>
            <a:ext cx="213372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670" b="0" strike="noStrike" spc="-1">
                <a:solidFill>
                  <a:srgbClr val="8AB833"/>
                </a:solidFill>
                <a:latin typeface="Gill Sans MT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7AD82B-ECBF-499D-8804-0D206D891B6B}" type="datetime">
              <a:rPr lang="en-US" sz="670" b="0" strike="noStrike" spc="-1">
                <a:solidFill>
                  <a:srgbClr val="8AB833"/>
                </a:solidFill>
                <a:latin typeface="Gill Sans MT"/>
              </a:rPr>
              <a:t>4/14/2026</a:t>
            </a:fld>
            <a:endParaRPr lang="en-US" sz="67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35960" y="4464000"/>
            <a:ext cx="518796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918560" y="4467240"/>
            <a:ext cx="789480" cy="273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665AD9-E53B-4FD0-A8DB-F00F25A1C142}" type="slidenum">
              <a:rPr lang="en-US" sz="1000" b="0" strike="noStrike" spc="-1">
                <a:solidFill>
                  <a:srgbClr val="CCCCCC"/>
                </a:solidFill>
                <a:latin typeface="Nunito Sans"/>
                <a:ea typeface="Nunito Sans"/>
              </a:rPr>
              <a:t>‹nº›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7200" y="284040"/>
            <a:ext cx="1824840" cy="367812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11" descr="logo_uerj_cor.png"/>
          <p:cNvPicPr/>
          <p:nvPr/>
        </p:nvPicPr>
        <p:blipFill>
          <a:blip r:embed="rId5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37" name="Imagem 9" descr="Logotipo  Descrição gerada automaticamente"/>
          <p:cNvPicPr/>
          <p:nvPr/>
        </p:nvPicPr>
        <p:blipFill>
          <a:blip r:embed="rId6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38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39" name="Imagem 11" descr="Texto  Descrição gerada automaticamente com confiança baixa"/>
          <p:cNvPicPr/>
          <p:nvPr/>
        </p:nvPicPr>
        <p:blipFill>
          <a:blip r:embed="rId7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Picture 11" descr="logo_uerj_cor.png"/>
          <p:cNvPicPr/>
          <p:nvPr/>
        </p:nvPicPr>
        <p:blipFill>
          <a:blip r:embed="rId4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48" name="Imagem 6" descr="Logotipo  Descrição gerada automaticamente"/>
          <p:cNvPicPr/>
          <p:nvPr/>
        </p:nvPicPr>
        <p:blipFill>
          <a:blip r:embed="rId5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49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50" name="Imagem 9" descr="Texto  Descrição gerada automaticamente com confiança baixa"/>
          <p:cNvPicPr/>
          <p:nvPr/>
        </p:nvPicPr>
        <p:blipFill>
          <a:blip r:embed="rId6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8"/>
          <p:cNvSpPr/>
          <p:nvPr/>
        </p:nvSpPr>
        <p:spPr>
          <a:xfrm>
            <a:off x="334800" y="343080"/>
            <a:ext cx="2777400" cy="7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9E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9"/>
          <p:cNvSpPr/>
          <p:nvPr/>
        </p:nvSpPr>
        <p:spPr>
          <a:xfrm>
            <a:off x="6031440" y="340200"/>
            <a:ext cx="2777400" cy="7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2967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3181320" y="343080"/>
            <a:ext cx="2777400" cy="6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AB8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79640" y="575640"/>
            <a:ext cx="1897200" cy="3344400"/>
          </a:xfrm>
          <a:prstGeom prst="rect">
            <a:avLst/>
          </a:prstGeom>
          <a:noFill/>
          <a:ln w="1908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" descr="uerj-01.png"/>
          <p:cNvPicPr/>
          <p:nvPr/>
        </p:nvPicPr>
        <p:blipFill>
          <a:blip r:embed="rId4"/>
          <a:stretch/>
        </p:blipFill>
        <p:spPr>
          <a:xfrm>
            <a:off x="8246160" y="3735000"/>
            <a:ext cx="938880" cy="663120"/>
          </a:xfrm>
          <a:prstGeom prst="rect">
            <a:avLst/>
          </a:prstGeom>
          <a:ln w="19080">
            <a:noFill/>
          </a:ln>
        </p:spPr>
      </p:pic>
      <p:pic>
        <p:nvPicPr>
          <p:cNvPr id="177" name="Imagem 2" descr="Texto  Descrição gerada automaticamente com confiança média"/>
          <p:cNvPicPr/>
          <p:nvPr/>
        </p:nvPicPr>
        <p:blipFill>
          <a:blip r:embed="rId5"/>
          <a:stretch/>
        </p:blipFill>
        <p:spPr>
          <a:xfrm>
            <a:off x="8380800" y="4397760"/>
            <a:ext cx="690480" cy="682200"/>
          </a:xfrm>
          <a:prstGeom prst="rect">
            <a:avLst/>
          </a:prstGeom>
          <a:ln w="19080">
            <a:noFill/>
          </a:ln>
        </p:spPr>
      </p:pic>
      <p:pic>
        <p:nvPicPr>
          <p:cNvPr id="178" name="Picture 11" descr="logo_uerj_cor.png"/>
          <p:cNvPicPr/>
          <p:nvPr/>
        </p:nvPicPr>
        <p:blipFill>
          <a:blip r:embed="rId6"/>
          <a:stretch/>
        </p:blipFill>
        <p:spPr>
          <a:xfrm>
            <a:off x="7333920" y="534240"/>
            <a:ext cx="384120" cy="423000"/>
          </a:xfrm>
          <a:prstGeom prst="rect">
            <a:avLst/>
          </a:prstGeom>
          <a:ln w="19080">
            <a:noFill/>
          </a:ln>
        </p:spPr>
      </p:pic>
      <p:pic>
        <p:nvPicPr>
          <p:cNvPr id="179" name="Imagem 8" descr="Logotipo  Descrição gerada automaticamente"/>
          <p:cNvPicPr/>
          <p:nvPr/>
        </p:nvPicPr>
        <p:blipFill>
          <a:blip r:embed="rId7"/>
          <a:stretch/>
        </p:blipFill>
        <p:spPr>
          <a:xfrm>
            <a:off x="7939080" y="524520"/>
            <a:ext cx="354600" cy="436320"/>
          </a:xfrm>
          <a:prstGeom prst="rect">
            <a:avLst/>
          </a:prstGeom>
          <a:ln w="19080">
            <a:noFill/>
          </a:ln>
        </p:spPr>
      </p:pic>
      <p:cxnSp>
        <p:nvCxnSpPr>
          <p:cNvPr id="180" name="Straight Connector 13"/>
          <p:cNvCxnSpPr/>
          <p:nvPr/>
        </p:nvCxnSpPr>
        <p:spPr>
          <a:xfrm>
            <a:off x="7856280" y="570600"/>
            <a:ext cx="360" cy="421560"/>
          </a:xfrm>
          <a:prstGeom prst="straightConnector1">
            <a:avLst/>
          </a:prstGeom>
          <a:ln w="22320" cap="rnd">
            <a:solidFill>
              <a:srgbClr val="C2C2C2"/>
            </a:solidFill>
            <a:custDash>
              <a:ds d="498387" sp="1000"/>
            </a:custDash>
            <a:miter/>
          </a:ln>
        </p:spPr>
      </p:cxnSp>
      <p:pic>
        <p:nvPicPr>
          <p:cNvPr id="181" name="Imagem 12" descr="Texto  Descrição gerada automaticamente com confiança baixa"/>
          <p:cNvPicPr/>
          <p:nvPr/>
        </p:nvPicPr>
        <p:blipFill>
          <a:blip r:embed="rId8"/>
          <a:stretch/>
        </p:blipFill>
        <p:spPr>
          <a:xfrm>
            <a:off x="8215920" y="393840"/>
            <a:ext cx="748440" cy="697680"/>
          </a:xfrm>
          <a:prstGeom prst="rect">
            <a:avLst/>
          </a:prstGeom>
          <a:ln w="1908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1">
            <a:extLst>
              <a:ext uri="{FF2B5EF4-FFF2-40B4-BE49-F238E27FC236}">
                <a16:creationId xmlns:a16="http://schemas.microsoft.com/office/drawing/2014/main" id="{BBECEEAB-4274-8939-F6E6-DA409B1844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4344" y="1228725"/>
            <a:ext cx="8586787" cy="1907381"/>
          </a:xfrm>
        </p:spPr>
        <p:txBody>
          <a:bodyPr anchorCtr="1">
            <a:noAutofit/>
          </a:bodyPr>
          <a:lstStyle/>
          <a:p>
            <a:pPr lvl="0" algn="ctr"/>
            <a:r>
              <a:rPr lang="pt-BR" sz="2400" dirty="0">
                <a:solidFill>
                  <a:srgbClr val="233028"/>
                </a:solidFill>
              </a:rPr>
              <a:t>Arquitetura de baixo custo para monitoramento preventivo do pé diabético: </a:t>
            </a:r>
            <a:r>
              <a:rPr lang="pt-BR" sz="2200" dirty="0">
                <a:solidFill>
                  <a:srgbClr val="233028"/>
                </a:solidFill>
              </a:rPr>
              <a:t>proposta de sistema com sensores e modelo preditivo baseado em Random Forest</a:t>
            </a:r>
            <a:endParaRPr lang="en-US" sz="2200" dirty="0">
              <a:solidFill>
                <a:srgbClr val="233028"/>
              </a:solidFill>
            </a:endParaRPr>
          </a:p>
        </p:txBody>
      </p:sp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387E3442-4E3C-4C18-81A0-6163D77BB7D3}"/>
              </a:ext>
            </a:extLst>
          </p:cNvPr>
          <p:cNvCxnSpPr/>
          <p:nvPr/>
        </p:nvCxnSpPr>
        <p:spPr>
          <a:xfrm flipV="1">
            <a:off x="2022040" y="2798539"/>
            <a:ext cx="5112684" cy="17849"/>
          </a:xfrm>
          <a:prstGeom prst="straightConnector1">
            <a:avLst/>
          </a:prstGeom>
          <a:noFill/>
          <a:ln w="22229" cap="rnd">
            <a:solidFill>
              <a:srgbClr val="C2C2C2"/>
            </a:solidFill>
            <a:custDash>
              <a:ds d="600000" sp="0"/>
            </a:custDash>
            <a:miter/>
          </a:ln>
        </p:spPr>
      </p:cxnSp>
      <p:sp>
        <p:nvSpPr>
          <p:cNvPr id="4" name="Shape 91">
            <a:extLst>
              <a:ext uri="{FF2B5EF4-FFF2-40B4-BE49-F238E27FC236}">
                <a16:creationId xmlns:a16="http://schemas.microsoft.com/office/drawing/2014/main" id="{DE28ED32-52D5-B505-026F-B3D518D5FD0D}"/>
              </a:ext>
            </a:extLst>
          </p:cNvPr>
          <p:cNvSpPr txBox="1"/>
          <p:nvPr/>
        </p:nvSpPr>
        <p:spPr>
          <a:xfrm>
            <a:off x="2814844" y="2898099"/>
            <a:ext cx="3617238" cy="4992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600" b="1" u="none" strike="noStrike" kern="1200" cap="none" spc="0" baseline="0" dirty="0">
                <a:solidFill>
                  <a:srgbClr val="1B1810"/>
                </a:solidFill>
                <a:uFillTx/>
                <a:latin typeface="Nunito Sans"/>
                <a:ea typeface="Nunito Sans"/>
                <a:cs typeface="Nunito Sans"/>
              </a:rPr>
              <a:t>Chrysthian Chrisley</a:t>
            </a:r>
            <a:endParaRPr lang="en-US" sz="2000" b="1" u="none" strike="noStrike" kern="1200" cap="none" spc="0" baseline="0" dirty="0">
              <a:solidFill>
                <a:srgbClr val="1B1810"/>
              </a:solidFill>
              <a:uFillTx/>
              <a:latin typeface="Georgia"/>
              <a:ea typeface="Nunito Sans"/>
              <a:cs typeface="Georgia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2E61774-7FE4-2D09-B5ED-E398D69B1452}"/>
              </a:ext>
            </a:extLst>
          </p:cNvPr>
          <p:cNvSpPr/>
          <p:nvPr/>
        </p:nvSpPr>
        <p:spPr>
          <a:xfrm>
            <a:off x="2814843" y="3517769"/>
            <a:ext cx="3825703" cy="3039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 defTabSz="45720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Orientador: </a:t>
            </a:r>
            <a:r>
              <a:rPr lang="pt-BR" sz="1000" b="1" i="0" u="none" strike="noStrike" kern="1200" cap="none" spc="-30" baseline="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Prof.</a:t>
            </a:r>
            <a:r>
              <a:rPr lang="pt-BR" sz="1000" b="1" i="0" u="none" strike="noStrike" kern="1200" cap="none" spc="-30" baseline="30000" dirty="0">
                <a:solidFill>
                  <a:srgbClr val="000000"/>
                </a:solidFill>
                <a:uFillTx/>
                <a:latin typeface="Nunito sans"/>
                <a:cs typeface="Nunito sans"/>
              </a:rPr>
              <a:t> </a:t>
            </a:r>
            <a:r>
              <a:rPr lang="pt-BR" sz="1000" b="1" spc="-30" dirty="0">
                <a:solidFill>
                  <a:srgbClr val="000000"/>
                </a:solidFill>
                <a:latin typeface="Nunito sans"/>
                <a:cs typeface="Nunito sans"/>
              </a:rPr>
              <a:t>Dra. Rosa Maria Esteves Moreira da Costa</a:t>
            </a:r>
            <a:endParaRPr lang="pt-BR" sz="1000" b="1" i="0" u="none" strike="noStrike" kern="1200" cap="none" spc="-30" baseline="0" dirty="0">
              <a:solidFill>
                <a:srgbClr val="000000"/>
              </a:solidFill>
              <a:uFillTx/>
              <a:latin typeface="Nunito sans"/>
              <a:cs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E4966-3C3A-A19C-FF53-B8B50B63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>
            <a:extLst>
              <a:ext uri="{FF2B5EF4-FFF2-40B4-BE49-F238E27FC236}">
                <a16:creationId xmlns:a16="http://schemas.microsoft.com/office/drawing/2014/main" id="{20861F4D-7EA2-9E58-39A8-D7F93557AE95}"/>
              </a:ext>
            </a:extLst>
          </p:cNvPr>
          <p:cNvSpPr txBox="1"/>
          <p:nvPr/>
        </p:nvSpPr>
        <p:spPr>
          <a:xfrm>
            <a:off x="366840" y="613800"/>
            <a:ext cx="4200000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1.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Introdução</a:t>
            </a:r>
          </a:p>
        </p:txBody>
      </p:sp>
      <p:sp>
        <p:nvSpPr>
          <p:cNvPr id="301" name="TituloSlide">
            <a:extLst>
              <a:ext uri="{FF2B5EF4-FFF2-40B4-BE49-F238E27FC236}">
                <a16:creationId xmlns:a16="http://schemas.microsoft.com/office/drawing/2014/main" id="{D952FD9C-5756-5632-828A-8AD38FC59354}"/>
              </a:ext>
            </a:extLst>
          </p:cNvPr>
          <p:cNvSpPr txBox="1"/>
          <p:nvPr/>
        </p:nvSpPr>
        <p:spPr>
          <a:xfrm>
            <a:off x="366840" y="1071563"/>
            <a:ext cx="8598566" cy="3829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pt-BR" sz="2400" dirty="0"/>
              <a:t>O </a:t>
            </a:r>
            <a:r>
              <a:rPr lang="pt-BR" sz="2400" b="1" dirty="0"/>
              <a:t>pé diabético </a:t>
            </a:r>
            <a:r>
              <a:rPr lang="pt-BR" sz="2400" dirty="0"/>
              <a:t>é uma síndrome grave decorrente das complicações crônicas do diabetes mellitus (DM).</a:t>
            </a:r>
          </a:p>
          <a:p>
            <a:endParaRPr lang="pt-BR" sz="2400" dirty="0"/>
          </a:p>
          <a:p>
            <a:r>
              <a:rPr lang="pt-BR" sz="2400" dirty="0"/>
              <a:t>	• </a:t>
            </a:r>
            <a:r>
              <a:rPr lang="pt-BR" sz="2000" dirty="0"/>
              <a:t>~20 milhões de brasileiros vivem com diabetes. </a:t>
            </a:r>
          </a:p>
          <a:p>
            <a:endParaRPr lang="pt-BR" sz="2000" dirty="0"/>
          </a:p>
          <a:p>
            <a:r>
              <a:rPr lang="pt-BR" sz="2000" dirty="0"/>
              <a:t>	• 25% desenvolverão uma úlcera plantar ao longo da vida</a:t>
            </a:r>
          </a:p>
          <a:p>
            <a:r>
              <a:rPr lang="pt-BR" sz="2000" dirty="0"/>
              <a:t> </a:t>
            </a:r>
          </a:p>
          <a:p>
            <a:r>
              <a:rPr lang="pt-BR" sz="2000" dirty="0"/>
              <a:t>	• A úlcera precede ~85% das amputações não traumáticas.</a:t>
            </a:r>
            <a:endParaRPr lang="pt-BR" b="1" strike="noStrike" spc="-1" dirty="0">
              <a:solidFill>
                <a:srgbClr val="233028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53866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0F8E1-C178-67D7-1F61-5BC6839B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Slide">
            <a:extLst>
              <a:ext uri="{FF2B5EF4-FFF2-40B4-BE49-F238E27FC236}">
                <a16:creationId xmlns:a16="http://schemas.microsoft.com/office/drawing/2014/main" id="{7375DF2F-55F8-54C2-192E-5E25A076AFEC}"/>
              </a:ext>
            </a:extLst>
          </p:cNvPr>
          <p:cNvSpPr txBox="1"/>
          <p:nvPr/>
        </p:nvSpPr>
        <p:spPr>
          <a:xfrm>
            <a:off x="303868" y="635794"/>
            <a:ext cx="8536263" cy="38361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pt-BR" sz="2800" dirty="0"/>
              <a:t>Neuropatia Periférica Diabética</a:t>
            </a:r>
          </a:p>
          <a:p>
            <a:endParaRPr lang="pt-BR" sz="2000" i="1" dirty="0"/>
          </a:p>
          <a:p>
            <a:pPr algn="ctr"/>
            <a:r>
              <a:rPr lang="pt-BR" sz="2400" dirty="0"/>
              <a:t>Dano progressivo aos nervos periféricos</a:t>
            </a:r>
          </a:p>
          <a:p>
            <a:pPr algn="ctr"/>
            <a:r>
              <a:rPr lang="pt-BR" sz="2400" dirty="0"/>
              <a:t> </a:t>
            </a:r>
          </a:p>
          <a:p>
            <a:pPr algn="ctr"/>
            <a:r>
              <a:rPr lang="pt-BR" sz="2400" dirty="0"/>
              <a:t>   </a:t>
            </a:r>
            <a:r>
              <a:rPr lang="pt-BR" sz="3600" dirty="0"/>
              <a:t>↓</a:t>
            </a:r>
            <a:endParaRPr lang="pt-BR" sz="2400" dirty="0"/>
          </a:p>
          <a:p>
            <a:pPr algn="ctr"/>
            <a:endParaRPr lang="pt-BR" sz="2400" dirty="0"/>
          </a:p>
          <a:p>
            <a:pPr algn="ctr"/>
            <a:r>
              <a:rPr lang="pt-BR" sz="2400" b="1" dirty="0"/>
              <a:t>Perda da sensibilidade protetora</a:t>
            </a:r>
            <a:endParaRPr lang="pt-BR" sz="2400" dirty="0"/>
          </a:p>
          <a:p>
            <a:pPr algn="ctr"/>
            <a:r>
              <a:rPr lang="pt-BR" sz="2400" dirty="0"/>
              <a:t>🚫 dor    🚫 pressão    🚫 temperatura</a:t>
            </a:r>
          </a:p>
        </p:txBody>
      </p:sp>
    </p:spTree>
    <p:extLst>
      <p:ext uri="{BB962C8B-B14F-4D97-AF65-F5344CB8AC3E}">
        <p14:creationId xmlns:p14="http://schemas.microsoft.com/office/powerpoint/2010/main" val="2522548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uloSlide"/>
          <p:cNvSpPr txBox="1"/>
          <p:nvPr/>
        </p:nvSpPr>
        <p:spPr>
          <a:xfrm>
            <a:off x="330000" y="811000"/>
            <a:ext cx="8300000" cy="5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900" b="1" strike="noStrike" spc="-1" dirty="0">
                <a:solidFill>
                  <a:srgbClr val="233028"/>
                </a:solidFill>
                <a:latin typeface="Gill Sans MT"/>
              </a:rPr>
              <a:t>Amputações por diabetes no Brasil: uma tragédia em crescimento contínuo</a:t>
            </a:r>
          </a:p>
        </p:txBody>
      </p:sp>
      <p:sp>
        <p:nvSpPr>
          <p:cNvPr id="302" name="DestaqueBox"/>
          <p:cNvSpPr txBox="1"/>
          <p:nvPr/>
        </p:nvSpPr>
        <p:spPr>
          <a:xfrm>
            <a:off x="366840" y="1659000"/>
            <a:ext cx="2000000" cy="1100000"/>
          </a:xfrm>
          <a:prstGeom prst="rect">
            <a:avLst/>
          </a:prstGeom>
          <a:solidFill>
            <a:srgbClr val="233028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600" b="1" strike="noStrike" spc="-1" dirty="0">
                <a:solidFill>
                  <a:srgbClr val="8AB833"/>
                </a:solidFill>
                <a:latin typeface="Gill Sans MT"/>
              </a:rPr>
              <a:t>+65%</a:t>
            </a:r>
          </a:p>
          <a:p>
            <a:pPr algn="ctr">
              <a:lnSpc>
                <a:spcPct val="100000"/>
              </a:lnSpc>
            </a:pPr>
            <a:r>
              <a:rPr lang="pt-BR" sz="1100" b="0" strike="noStrike" spc="-1" dirty="0">
                <a:solidFill>
                  <a:srgbClr val="FFFFFF"/>
                </a:solidFill>
                <a:latin typeface="Arial"/>
              </a:rPr>
              <a:t>em 10 anos</a:t>
            </a:r>
          </a:p>
        </p:txBody>
      </p:sp>
      <p:sp>
        <p:nvSpPr>
          <p:cNvPr id="504" name="FraseImpacto"/>
          <p:cNvSpPr txBox="1"/>
          <p:nvPr/>
        </p:nvSpPr>
        <p:spPr>
          <a:xfrm>
            <a:off x="379999" y="2950000"/>
            <a:ext cx="2100000" cy="1200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pt-BR" sz="1100" b="0" i="1" strike="noStrike" spc="-1" dirty="0">
                <a:solidFill>
                  <a:srgbClr val="595959"/>
                </a:solidFill>
                <a:latin typeface="Arial"/>
              </a:rPr>
              <a:t>“A maioria dessas amputações foi precedida por uma úlcera que poderia ter sido prevenida.”</a:t>
            </a:r>
          </a:p>
          <a:p>
            <a:pPr algn="ctr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8AB833"/>
                </a:solidFill>
                <a:latin typeface="Arial"/>
              </a:rPr>
              <a:t>KOSAJI et al., 2025</a:t>
            </a:r>
          </a:p>
        </p:txBody>
      </p:sp>
      <p:sp>
        <p:nvSpPr>
          <p:cNvPr id="399" name="LinhaBase"/>
          <p:cNvSpPr>
            <a:spLocks noGrp="1"/>
          </p:cNvSpPr>
          <p:nvPr/>
        </p:nvSpPr>
        <p:spPr>
          <a:xfrm>
            <a:off x="2620000" y="4700000"/>
            <a:ext cx="6100000" cy="25000"/>
          </a:xfrm>
          <a:prstGeom prst="rect">
            <a:avLst/>
          </a:prstGeom>
          <a:solidFill>
            <a:srgbClr val="59595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Bar2012"/>
          <p:cNvSpPr>
            <a:spLocks noGrp="1"/>
          </p:cNvSpPr>
          <p:nvPr/>
        </p:nvSpPr>
        <p:spPr>
          <a:xfrm>
            <a:off x="2630000" y="3550000"/>
            <a:ext cx="400000" cy="115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Bar2013"/>
          <p:cNvSpPr>
            <a:spLocks noGrp="1"/>
          </p:cNvSpPr>
          <p:nvPr/>
        </p:nvSpPr>
        <p:spPr>
          <a:xfrm>
            <a:off x="3180000" y="3496000"/>
            <a:ext cx="400000" cy="1204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2" name="Bar2014"/>
          <p:cNvSpPr>
            <a:spLocks noGrp="1"/>
          </p:cNvSpPr>
          <p:nvPr/>
        </p:nvSpPr>
        <p:spPr>
          <a:xfrm>
            <a:off x="3730000" y="3445000"/>
            <a:ext cx="400000" cy="125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Bar2015"/>
          <p:cNvSpPr>
            <a:spLocks noGrp="1"/>
          </p:cNvSpPr>
          <p:nvPr/>
        </p:nvSpPr>
        <p:spPr>
          <a:xfrm>
            <a:off x="4280000" y="3372000"/>
            <a:ext cx="400000" cy="1328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Bar2016"/>
          <p:cNvSpPr>
            <a:spLocks noGrp="1"/>
          </p:cNvSpPr>
          <p:nvPr/>
        </p:nvSpPr>
        <p:spPr>
          <a:xfrm>
            <a:off x="4830000" y="3290000"/>
            <a:ext cx="400000" cy="1410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Bar2017"/>
          <p:cNvSpPr>
            <a:spLocks noGrp="1"/>
          </p:cNvSpPr>
          <p:nvPr/>
        </p:nvSpPr>
        <p:spPr>
          <a:xfrm>
            <a:off x="5380000" y="3227000"/>
            <a:ext cx="400000" cy="14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Bar2018"/>
          <p:cNvSpPr>
            <a:spLocks noGrp="1"/>
          </p:cNvSpPr>
          <p:nvPr/>
        </p:nvSpPr>
        <p:spPr>
          <a:xfrm>
            <a:off x="5930000" y="3105000"/>
            <a:ext cx="400000" cy="1595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Bar2019"/>
          <p:cNvSpPr>
            <a:spLocks noGrp="1"/>
          </p:cNvSpPr>
          <p:nvPr/>
        </p:nvSpPr>
        <p:spPr>
          <a:xfrm>
            <a:off x="6480000" y="3047000"/>
            <a:ext cx="400000" cy="165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Bar2020"/>
          <p:cNvSpPr>
            <a:spLocks noGrp="1"/>
          </p:cNvSpPr>
          <p:nvPr/>
        </p:nvSpPr>
        <p:spPr>
          <a:xfrm>
            <a:off x="7030000" y="3021000"/>
            <a:ext cx="400000" cy="1679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Bar2021"/>
          <p:cNvSpPr>
            <a:spLocks noGrp="1"/>
          </p:cNvSpPr>
          <p:nvPr/>
        </p:nvSpPr>
        <p:spPr>
          <a:xfrm>
            <a:off x="7580000" y="2927000"/>
            <a:ext cx="400000" cy="1773000"/>
          </a:xfrm>
          <a:prstGeom prst="rect">
            <a:avLst/>
          </a:prstGeom>
          <a:solidFill>
            <a:srgbClr val="8AB83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Bar2022"/>
          <p:cNvSpPr>
            <a:spLocks noGrp="1"/>
          </p:cNvSpPr>
          <p:nvPr/>
        </p:nvSpPr>
        <p:spPr>
          <a:xfrm>
            <a:off x="8130000" y="2800000"/>
            <a:ext cx="400000" cy="190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Label2022"/>
          <p:cNvSpPr txBox="1"/>
          <p:nvPr/>
        </p:nvSpPr>
        <p:spPr>
          <a:xfrm>
            <a:off x="7980000" y="2532456"/>
            <a:ext cx="797160" cy="2855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2000" b="1" strike="noStrike" spc="-1" dirty="0">
                <a:latin typeface="Arial"/>
              </a:rPr>
              <a:t>85</a:t>
            </a:r>
          </a:p>
        </p:txBody>
      </p:sp>
      <p:sp>
        <p:nvSpPr>
          <p:cNvPr id="502" name="Label2012"/>
          <p:cNvSpPr txBox="1"/>
          <p:nvPr/>
        </p:nvSpPr>
        <p:spPr>
          <a:xfrm>
            <a:off x="2480509" y="3227000"/>
            <a:ext cx="698981" cy="335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b="1" strike="noStrike" spc="-1" dirty="0">
                <a:latin typeface="Arial"/>
              </a:rPr>
              <a:t>52</a:t>
            </a:r>
            <a:endParaRPr lang="pt-BR" sz="1600" b="1" strike="noStrike" spc="-1" dirty="0">
              <a:latin typeface="Arial"/>
            </a:endParaRPr>
          </a:p>
        </p:txBody>
      </p:sp>
      <p:sp>
        <p:nvSpPr>
          <p:cNvPr id="500" name="LabelsAnos"/>
          <p:cNvSpPr txBox="1"/>
          <p:nvPr/>
        </p:nvSpPr>
        <p:spPr>
          <a:xfrm>
            <a:off x="2580000" y="4730000"/>
            <a:ext cx="6050000" cy="2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700" b="1" strike="noStrike" spc="-1" dirty="0">
                <a:solidFill>
                  <a:srgbClr val="595959"/>
                </a:solidFill>
                <a:latin typeface="Arial"/>
              </a:rPr>
              <a:t>2012                2013               2014              2015              2016               2017             2018               2019             2020              2021              2022</a:t>
            </a:r>
          </a:p>
        </p:txBody>
      </p:sp>
      <p:sp>
        <p:nvSpPr>
          <p:cNvPr id="503" name="Fonte"/>
          <p:cNvSpPr txBox="1"/>
          <p:nvPr/>
        </p:nvSpPr>
        <p:spPr>
          <a:xfrm>
            <a:off x="3430000" y="4930000"/>
            <a:ext cx="6100000" cy="17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800" b="1" strike="noStrike" spc="-1" dirty="0">
                <a:solidFill>
                  <a:srgbClr val="999999"/>
                </a:solidFill>
                <a:latin typeface="Arial"/>
              </a:rPr>
              <a:t>Fonte: SBACV, 2023. Amputações de membros inferiores no SUS (2012-2022).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F00E46D8-595E-6652-9975-A2A3FB936A15}"/>
              </a:ext>
            </a:extLst>
          </p:cNvPr>
          <p:cNvCxnSpPr>
            <a:stCxn id="502" idx="3"/>
          </p:cNvCxnSpPr>
          <p:nvPr/>
        </p:nvCxnSpPr>
        <p:spPr>
          <a:xfrm>
            <a:off x="3179490" y="3445000"/>
            <a:ext cx="914400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o 5">
            <a:extLst>
              <a:ext uri="{FF2B5EF4-FFF2-40B4-BE49-F238E27FC236}">
                <a16:creationId xmlns:a16="http://schemas.microsoft.com/office/drawing/2014/main" id="{486C0BE6-794E-407A-38F2-B730EEF17D9B}"/>
              </a:ext>
            </a:extLst>
          </p:cNvPr>
          <p:cNvSpPr/>
          <p:nvPr/>
        </p:nvSpPr>
        <p:spPr>
          <a:xfrm>
            <a:off x="3179490" y="3372000"/>
            <a:ext cx="914400" cy="914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B0D77316-FA5D-F48D-02AC-F23B47EAF66F}"/>
              </a:ext>
            </a:extLst>
          </p:cNvPr>
          <p:cNvCxnSpPr/>
          <p:nvPr/>
        </p:nvCxnSpPr>
        <p:spPr>
          <a:xfrm>
            <a:off x="3179490" y="2532456"/>
            <a:ext cx="914400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ecaoTitulo"/>
          <p:cNvSpPr txBox="1"/>
          <p:nvPr/>
        </p:nvSpPr>
        <p:spPr>
          <a:xfrm>
            <a:off x="366840" y="613800"/>
            <a:ext cx="4572000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688A26"/>
                </a:solidFill>
                <a:latin typeface="Aptos"/>
              </a:rPr>
              <a:t>2.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Revisão Sistemática</a:t>
            </a: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70D5D20C-CAF9-C824-C692-B5BFD108D947}"/>
              </a:ext>
            </a:extLst>
          </p:cNvPr>
          <p:cNvSpPr/>
          <p:nvPr/>
        </p:nvSpPr>
        <p:spPr>
          <a:xfrm>
            <a:off x="32004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35"/>
                </a:solidFill>
              </a:rPr>
              <a:t>Bases de dados consultadas</a:t>
            </a:r>
            <a:endParaRPr lang="en-US" sz="11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92E659EE-F536-C661-C9D0-63D4EFD6D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68723"/>
              </p:ext>
            </p:extLst>
          </p:nvPr>
        </p:nvGraphicFramePr>
        <p:xfrm>
          <a:off x="320040" y="2084832"/>
          <a:ext cx="5029200" cy="193243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CAPES / Scopus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Engenharia + Saúde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30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IEEE Xplore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Sensores, IoT, Sistemas embarcados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16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PubMed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Clínica - pé diabético e </a:t>
                      </a:r>
                      <a:r>
                        <a:rPr lang="en-US" sz="1000" dirty="0" err="1">
                          <a:solidFill>
                            <a:srgbClr val="444444"/>
                          </a:solidFill>
                        </a:rPr>
                        <a:t>neuropatia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7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BVS / LILACS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Busca em português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</a:rPr>
                        <a:t>0 registros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8">
            <a:extLst>
              <a:ext uri="{FF2B5EF4-FFF2-40B4-BE49-F238E27FC236}">
                <a16:creationId xmlns:a16="http://schemas.microsoft.com/office/drawing/2014/main" id="{B7693AEE-3649-AA8C-BCF6-32679A81DBB6}"/>
              </a:ext>
            </a:extLst>
          </p:cNvPr>
          <p:cNvSpPr/>
          <p:nvPr/>
        </p:nvSpPr>
        <p:spPr>
          <a:xfrm>
            <a:off x="544068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35"/>
                </a:solidFill>
              </a:rPr>
              <a:t>String de busca (aplicada nas 3 bases)</a:t>
            </a:r>
            <a:endParaRPr lang="en-US" sz="110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A42E8FC-BE27-D661-06EF-54B7D428527B}"/>
              </a:ext>
            </a:extLst>
          </p:cNvPr>
          <p:cNvSpPr/>
          <p:nvPr/>
        </p:nvSpPr>
        <p:spPr>
          <a:xfrm>
            <a:off x="5440680" y="2084832"/>
            <a:ext cx="3474720" cy="1944624"/>
          </a:xfrm>
          <a:prstGeom prst="rect">
            <a:avLst/>
          </a:prstGeom>
          <a:solidFill>
            <a:srgbClr val="1B3A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A55F1493-DA5F-5BFE-7C36-60B6A2E2627C}"/>
              </a:ext>
            </a:extLst>
          </p:cNvPr>
          <p:cNvSpPr/>
          <p:nvPr/>
        </p:nvSpPr>
        <p:spPr>
          <a:xfrm>
            <a:off x="5577840" y="2121408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("diabetic foot")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("smart insole" OR "wearable sensor" OR "plantar pressure sensor" OR "pressure insole" OR "foot temperature" OR "humidity sensor" OR "shoe humidity")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  <a:p>
            <a:pPr marL="0" indent="0" algn="just">
              <a:buNone/>
            </a:pPr>
            <a:r>
              <a:rPr lang="en-US" sz="100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("machine learning" OR "artificial intelligence" OR "deep learning")</a:t>
            </a:r>
            <a:endParaRPr lang="en-US" sz="10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E5EA1450-D058-66C7-59CF-859D1D904E27}"/>
              </a:ext>
            </a:extLst>
          </p:cNvPr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3D45-3D1D-A4BD-6010-D5E3EE6E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6AAC22FA-2F87-2E56-809B-051A5FC0ABB8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3.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Critérios de Seleção</a:t>
            </a: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D8A929E-2CA1-2F92-F92F-0BC788F0A7B3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solidFill>
            <a:srgbClr val="2C6E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23557EF-91AE-A419-9505-8814B50C3627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✔  Critérios de INCLUSÃO</a:t>
            </a:r>
            <a:endParaRPr lang="en-US" sz="16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F82B2D11-5315-D318-8545-4FE4E1F2BB0D}"/>
              </a:ext>
            </a:extLst>
          </p:cNvPr>
          <p:cNvSpPr/>
          <p:nvPr/>
        </p:nvSpPr>
        <p:spPr>
          <a:xfrm>
            <a:off x="458278" y="2420179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highlight>
                  <a:srgbClr val="FFFF00"/>
                </a:highlight>
              </a:rPr>
              <a:t>I1 · Publicado entre 2015 e 2025</a:t>
            </a:r>
            <a:endParaRPr lang="en-US" sz="1600" dirty="0">
              <a:highlight>
                <a:srgbClr val="FFFF00"/>
              </a:highlight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I2 · Monitoramento ou predição de risco no pé diabético com sensores ou 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I3 · Artigo completo (&gt;4 páginas) em periódico indexado ou conferência com revisão por pares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highlight>
                  <a:srgbClr val="FFFF00"/>
                </a:highlight>
              </a:rPr>
              <a:t>I4 · Resultados quantitativos (acurácia, sensibilidade, especificidade) ou descrição técnica detalhada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627F920-FCED-434E-B100-6C51EFEB288E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63B7C31B-2C1F-F61D-E465-3C6356A01D6F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 X  Critérios de EXCLUSÃO</a:t>
            </a:r>
            <a:endParaRPr lang="en-US" sz="16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D5153BA-42A2-3A77-6225-DD176836516C}"/>
              </a:ext>
            </a:extLst>
          </p:cNvPr>
          <p:cNvSpPr/>
          <p:nvPr/>
        </p:nvSpPr>
        <p:spPr>
          <a:xfrm>
            <a:off x="4753802" y="2126419"/>
            <a:ext cx="4114800" cy="2403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highlight>
                  <a:srgbClr val="FFFF00"/>
                </a:highlight>
              </a:rPr>
              <a:t>E1 · Tema central não é pé diabético (Parkinson, AVC, biomecânica esportiva)</a:t>
            </a:r>
            <a:endParaRPr lang="en-US" sz="1400" dirty="0">
              <a:highlight>
                <a:srgbClr val="FFFF00"/>
              </a:highlight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E2 · Texto completo indisponível via CAPES ou acesso aberto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E3 · Idioma diferente de português ou inglês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E4 · Revisões, editoriais, cartas, resumos de congresso sem texto completo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highlight>
                  <a:srgbClr val="FFFF00"/>
                </a:highlight>
              </a:rPr>
              <a:t>E5 · Estudos exclusivamente por imagem (câmera IR) sem sensor vestível de pressão ou umidade</a:t>
            </a:r>
            <a:endParaRPr lang="en-US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901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DB5F-ED3E-34A2-7B22-AF92A78C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4334C6DC-2856-C9A0-3DEF-938B2E366A6D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4.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– Fluxograma PRISMA</a:t>
            </a: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B5A5CA0-B7BD-E4D0-2155-7E57F57B2601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08BDAB2B-48AB-717E-4576-33BEBA6F6A26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X  Critérios de EXCLUSÃO</a:t>
            </a:r>
            <a:endParaRPr lang="en-US" sz="11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6AD2FFE-0F27-2BB1-A903-5C37213E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81" y="1192046"/>
            <a:ext cx="3840320" cy="385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4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2B28-A96F-F2B8-0F19-905EDACD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AEB2DF33-F290-F9D0-BD7C-21E2199FA87C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pc="-1" dirty="0">
                <a:solidFill>
                  <a:srgbClr val="688A26"/>
                </a:solidFill>
                <a:latin typeface="Aptos"/>
              </a:rPr>
              <a:t>5</a:t>
            </a: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O que os estudos usam: Sensores</a:t>
            </a:r>
          </a:p>
          <a:p>
            <a:pPr>
              <a:lnSpc>
                <a:spcPct val="100000"/>
              </a:lnSpc>
            </a:pPr>
            <a:endParaRPr lang="pt-BR" sz="2000" b="1" strike="noStrike" cap="all" spc="-1" dirty="0">
              <a:solidFill>
                <a:srgbClr val="233028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90523E7D-07BC-1E9E-7A75-2DFD335367EF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D5DBFDFD-8C55-F65E-BF87-06E19D11EB50}"/>
              </a:ext>
            </a:extLst>
          </p:cNvPr>
          <p:cNvSpPr/>
          <p:nvPr/>
        </p:nvSpPr>
        <p:spPr>
          <a:xfrm>
            <a:off x="475596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X  Critérios de EXCLUSÃO</a:t>
            </a:r>
            <a:endParaRPr lang="en-US" sz="1100"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C8D38C6A-F750-049D-E9E5-DD4D52D08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74556"/>
              </p:ext>
            </p:extLst>
          </p:nvPr>
        </p:nvGraphicFramePr>
        <p:xfrm>
          <a:off x="1597881" y="16758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883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E2D8-584B-DCD2-016F-BAB21D6B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DD7FF592-CAA9-5DF9-CD5E-DB989C14BE8A}"/>
              </a:ext>
            </a:extLst>
          </p:cNvPr>
          <p:cNvSpPr txBox="1"/>
          <p:nvPr/>
        </p:nvSpPr>
        <p:spPr>
          <a:xfrm>
            <a:off x="366839" y="613800"/>
            <a:ext cx="7491285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6. </a:t>
            </a: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REVISÃO SISTEMÁTICA - O que os estudos usam:  Algoritmos de ML</a:t>
            </a:r>
          </a:p>
          <a:p>
            <a:pPr>
              <a:lnSpc>
                <a:spcPct val="100000"/>
              </a:lnSpc>
            </a:pPr>
            <a:endParaRPr lang="pt-BR" sz="2000" b="1" strike="noStrike" cap="all" spc="-1" dirty="0">
              <a:solidFill>
                <a:srgbClr val="233028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endParaRPr lang="pt-BR" sz="2300" b="1" strike="noStrike" cap="all" spc="-1" dirty="0">
              <a:solidFill>
                <a:srgbClr val="233028"/>
              </a:solidFill>
              <a:latin typeface="Gill Sans MT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F356517A-6D60-91A6-1C78-46138705FAD0}"/>
              </a:ext>
            </a:extLst>
          </p:cNvPr>
          <p:cNvSpPr/>
          <p:nvPr/>
        </p:nvSpPr>
        <p:spPr>
          <a:xfrm>
            <a:off x="366840" y="1675800"/>
            <a:ext cx="411480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✔  Critérios de INCLUSÃO</a:t>
            </a:r>
            <a:endParaRPr lang="en-US" sz="11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29D6622C-56B3-EF6D-0D85-F3FD90D46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383076"/>
              </p:ext>
            </p:extLst>
          </p:nvPr>
        </p:nvGraphicFramePr>
        <p:xfrm>
          <a:off x="332899" y="1849536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A346AE-58F1-7357-46F3-0277FBE0FEC3}"/>
              </a:ext>
            </a:extLst>
          </p:cNvPr>
          <p:cNvSpPr txBox="1"/>
          <p:nvPr/>
        </p:nvSpPr>
        <p:spPr>
          <a:xfrm>
            <a:off x="5636419" y="1658531"/>
            <a:ext cx="3457575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Lida bem com variáveis de naturezas distintas (pressão, temperatura, umidade, dados clínicos)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Robusto a </a:t>
            </a:r>
            <a:r>
              <a:rPr lang="pt-BR" sz="1400" dirty="0">
                <a:highlight>
                  <a:srgbClr val="00FF00"/>
                </a:highlight>
              </a:rPr>
              <a:t>overfitting</a:t>
            </a:r>
            <a:r>
              <a:rPr lang="pt-BR" sz="1400" dirty="0"/>
              <a:t> em amostras pequenas.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Interpretabilidade clínica.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Consistentemente competitivo ou superior em estudos que comparam múltiplos algoritmos.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highlight>
                  <a:srgbClr val="00FF00"/>
                </a:highlight>
              </a:rPr>
              <a:t>Implementável em microcontroladores.</a:t>
            </a:r>
            <a:endParaRPr lang="pt-BR" sz="1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350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/>
          <p:cNvSpPr txBox="1"/>
          <p:nvPr/>
        </p:nvSpPr>
        <p:spPr>
          <a:xfrm>
            <a:off x="366839" y="359822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b="1" strike="noStrike" spc="-1" dirty="0">
                <a:solidFill>
                  <a:schemeClr val="tx2"/>
                </a:solidFill>
                <a:latin typeface="Aptos"/>
              </a:rPr>
              <a:t>Síntese dos 16 estudos</a:t>
            </a:r>
            <a:endParaRPr lang="pt-BR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A14406C7-2B8A-98D1-A53D-E464988D3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75280"/>
              </p:ext>
            </p:extLst>
          </p:nvPr>
        </p:nvGraphicFramePr>
        <p:xfrm>
          <a:off x="366839" y="859822"/>
          <a:ext cx="7863840" cy="4197096"/>
        </p:xfrm>
        <a:graphic>
          <a:graphicData uri="http://schemas.openxmlformats.org/drawingml/2006/table">
            <a:tbl>
              <a:tblPr/>
              <a:tblGrid>
                <a:gridCol w="424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Autores (Ano)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Sensores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Algoritmo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Melhor Acc.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Nouman &amp; Rahman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6 FSR 402, 2 SHT31, MAX30102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LSTM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94-96%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22 voluntários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Acharya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 err="1">
                          <a:solidFill>
                            <a:srgbClr val="444444"/>
                          </a:solidFill>
                        </a:rPr>
                        <a:t>Pressão+temp+umidade</a:t>
                      </a: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CNN+ML ensemble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150 pac. DM tipo 2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Rakshita R.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Flexi-Force, ESP8266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99,997%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30k amostras sintéticas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Valarmathi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 Flexi-Force, ESP8266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KNN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98,26%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Não detalhado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Borg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21 sensores temp.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Sens: 93,75%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101 (74 DM)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Hasan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FSR, LM35, MAX30102,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IA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Testes em laboratório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Arunkumar P.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RSO2, temp., pressão, ESP32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90,02%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5.546 amostras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Agrawal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 FSR SuraSole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AdaBoost, RF, SVM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0,85 (F1)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150 (75 DM)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Begum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DS18B20, FSR, Arduino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Random Forest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54,50%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200 amostras sintéticas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Tian et al. (2024)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Capacitivos BaTiO3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1D-CNN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150 ciclos marcha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Khandakar et al. (2023)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8 temp.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Self-ONN (DSPNet)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F1: 90,3%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43 voluntários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Khandakar et al.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16 FSR, 8 NTC, BLE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12 vol. saudáveis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Mun &amp; Choi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9 FSR 402, Pedar-X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LSTM, ANFIS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rRMSE: 7,9%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50 saudáveis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Diviya et al. (2025)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Temp. IR, IoT (framework)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GMMs, MLP (teórico)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Simulados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Kularathne et al. (2019)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DHT22, célula de carga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Regressão Linear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Alertas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Pac. DM reais</a:t>
                      </a:r>
                      <a:endParaRPr lang="en-US" sz="8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16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Lee et al. (2022)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MF01A, SHT35, MPU-6500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Sem ML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highlight>
                            <a:srgbClr val="00FF00"/>
                          </a:highlight>
                        </a:rPr>
                        <a:t>Bancada</a:t>
                      </a:r>
                      <a:endParaRPr lang="en-US" sz="8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CEBA7-D866-403C-32B2-30565595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ecaoTitulo">
            <a:extLst>
              <a:ext uri="{FF2B5EF4-FFF2-40B4-BE49-F238E27FC236}">
                <a16:creationId xmlns:a16="http://schemas.microsoft.com/office/drawing/2014/main" id="{7C137A28-81E9-12DC-C050-B822542B094C}"/>
              </a:ext>
            </a:extLst>
          </p:cNvPr>
          <p:cNvSpPr txBox="1"/>
          <p:nvPr/>
        </p:nvSpPr>
        <p:spPr>
          <a:xfrm>
            <a:off x="366839" y="613800"/>
            <a:ext cx="7334123" cy="9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b="1" strike="noStrike" cap="all" spc="-1" dirty="0">
                <a:solidFill>
                  <a:srgbClr val="233028"/>
                </a:solidFill>
                <a:latin typeface="Gill Sans MT"/>
              </a:rPr>
              <a:t>motivação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B4AEF3B-7387-C636-D451-031CC02EEFFE}"/>
              </a:ext>
            </a:extLst>
          </p:cNvPr>
          <p:cNvSpPr txBox="1"/>
          <p:nvPr/>
        </p:nvSpPr>
        <p:spPr>
          <a:xfrm>
            <a:off x="366839" y="1370925"/>
            <a:ext cx="81485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Clínica - Cadeia evitável: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44444"/>
                </a:solidFill>
              </a:rPr>
              <a:t>Neuropatia periférica -&gt; pressão elevada -&gt; úlcera -&gt; infecção -&gt; amputação.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444444"/>
              </a:solidFill>
            </a:endParaRPr>
          </a:p>
          <a:p>
            <a:r>
              <a:rPr lang="pt-BR" dirty="0"/>
              <a:t>Financeira - Impacto no SUS: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R$ 78,7 milhões em 2022 - cerca de 1 bilhão no período histórico.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Tecnológica - Lacuna tecnológica: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44444"/>
                </a:solidFill>
              </a:rPr>
              <a:t>Componentes</a:t>
            </a:r>
            <a:r>
              <a:rPr lang="en-US" dirty="0">
                <a:solidFill>
                  <a:srgbClr val="444444"/>
                </a:solidFill>
              </a:rPr>
              <a:t> de </a:t>
            </a:r>
            <a:r>
              <a:rPr lang="en-US" dirty="0" err="1">
                <a:solidFill>
                  <a:srgbClr val="444444"/>
                </a:solidFill>
              </a:rPr>
              <a:t>baixo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custo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permitem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protótipos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viáveis</a:t>
            </a:r>
            <a:r>
              <a:rPr lang="en-US" dirty="0">
                <a:solidFill>
                  <a:srgbClr val="444444"/>
                </a:solidFill>
              </a:rPr>
              <a:t> para </a:t>
            </a:r>
            <a:r>
              <a:rPr lang="en-US" dirty="0" err="1">
                <a:solidFill>
                  <a:srgbClr val="444444"/>
                </a:solidFill>
              </a:rPr>
              <a:t>atenção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primária</a:t>
            </a:r>
            <a:r>
              <a:rPr lang="en-US" dirty="0">
                <a:solidFill>
                  <a:srgbClr val="444444"/>
                </a:solidFill>
              </a:rPr>
              <a:t> no SUS.</a:t>
            </a:r>
            <a:endParaRPr lang="pt-BR" dirty="0"/>
          </a:p>
          <a:p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3016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7.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Objetivo Geral</a:t>
            </a:r>
          </a:p>
        </p:txBody>
      </p:sp>
      <p:sp>
        <p:nvSpPr>
          <p:cNvPr id="229" name="ObjetivoGeral"/>
          <p:cNvSpPr txBox="1"/>
          <p:nvPr/>
        </p:nvSpPr>
        <p:spPr>
          <a:xfrm>
            <a:off x="872280" y="1812000"/>
            <a:ext cx="7399440" cy="20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pt-BR" sz="2000" dirty="0"/>
              <a:t>Projetar e propor um sistema de monitoramento preventivo do pé diabético composto por uma palmilha instrumentada com sensores de baixo custo, um aplicativo móvel e um modelo preditivo baseado em machine learning voltado à identificação precoce de risco de ulceração plantar.</a:t>
            </a:r>
            <a:endParaRPr lang="pt-BR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-1" normalizeH="0" baseline="0" noProof="0" dirty="0">
                <a:ln>
                  <a:noFill/>
                </a:ln>
                <a:solidFill>
                  <a:srgbClr val="688A26"/>
                </a:solidFill>
                <a:effectLst/>
                <a:uLnTx/>
                <a:uFillTx/>
                <a:latin typeface="Aptos"/>
              </a:rPr>
              <a:t>8. </a:t>
            </a:r>
            <a:r>
              <a:rPr kumimoji="0" lang="pt-BR" sz="2300" b="1" i="0" u="none" strike="noStrike" kern="1200" cap="all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Gill Sans MT"/>
              </a:rPr>
              <a:t>Objetivos Específicos</a:t>
            </a:r>
          </a:p>
        </p:txBody>
      </p:sp>
      <p:sp>
        <p:nvSpPr>
          <p:cNvPr id="232" name="ObjetivosEspecificos"/>
          <p:cNvSpPr txBox="1"/>
          <p:nvPr/>
        </p:nvSpPr>
        <p:spPr>
          <a:xfrm>
            <a:off x="571412" y="1675800"/>
            <a:ext cx="7800000" cy="32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Palmilha instrumentada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P</a:t>
            </a:r>
            <a:r>
              <a:rPr kumimoji="0" lang="pt-BR" sz="1700" b="0" i="0" u="none" strike="noStrike" kern="1200" cap="none" spc="-1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rotótipo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com sensores de pressão, temperatura e umidade, integrados ao microcontrolador ESP32 com transmissão via Bluetooth.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Aplicativo móvel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Interface web responsiva em HTML5 para recepção, visualização em tempo real e geração de alertas a partir dos dados coletados pela palmilha.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AB833"/>
              </a:buClr>
              <a:buSzTx/>
              <a:buFont typeface="OpenSymbol"/>
              <a:buAutoNum type="arabicPeriod" startAt="2"/>
              <a:tabLst/>
              <a:defRPr/>
            </a:pP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B833"/>
              </a:buClr>
              <a:buSzTx/>
              <a:buFont typeface="OpenSymbol"/>
              <a:buAutoNum type="arabicPeriod" startAt="3"/>
              <a:tabLst/>
              <a:defRPr/>
            </a:pPr>
            <a:r>
              <a:rPr kumimoji="0" lang="pt-BR" sz="1700" b="1" i="0" u="none" strike="noStrike" kern="1200" cap="none" spc="-1" normalizeH="0" baseline="0" noProof="0" dirty="0">
                <a:ln>
                  <a:noFill/>
                </a:ln>
                <a:solidFill>
                  <a:srgbClr val="233028"/>
                </a:solidFill>
                <a:effectLst/>
                <a:uLnTx/>
                <a:uFillTx/>
                <a:latin typeface="Aptos"/>
              </a:rPr>
              <a:t>Modelo preditivo</a:t>
            </a:r>
            <a:r>
              <a:rPr kumimoji="0" lang="pt-BR" sz="1700" b="0" i="0" u="none" strike="noStrike" kern="1200" cap="none" spc="-1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/>
              </a:rPr>
              <a:t> - Propor um classificador de risco de ulceração baseado no algoritmo Random Forest</a:t>
            </a:r>
            <a:r>
              <a:rPr lang="pt-BR" sz="1700" spc="-1" dirty="0">
                <a:solidFill>
                  <a:srgbClr val="595959"/>
                </a:solidFill>
                <a:latin typeface="Aptos"/>
              </a:rPr>
              <a:t>.</a:t>
            </a:r>
            <a:endParaRPr kumimoji="0" lang="pt-BR" sz="1700" b="0" i="0" u="none" strike="noStrike" kern="1200" cap="none" spc="-1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/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9.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- Hardware</a:t>
            </a:r>
          </a:p>
        </p:txBody>
      </p:sp>
      <p:sp>
        <p:nvSpPr>
          <p:cNvPr id="302" name="ConteudoHW"/>
          <p:cNvSpPr txBox="1"/>
          <p:nvPr/>
        </p:nvSpPr>
        <p:spPr>
          <a:xfrm>
            <a:off x="366840" y="1565656"/>
            <a:ext cx="7877048" cy="275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3 sensores FSR 402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pressão plantar nos pontos de maior risco (1º e 5º metatarso e calcâneo).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Sensor DHT22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temperatura e umidade no interior do calçado.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Microcontrolador ESP32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processamento e transmissão via Bluetooth </a:t>
            </a:r>
            <a:r>
              <a:rPr lang="pt-BR" sz="1600" b="0" strike="noStrike" spc="-1" dirty="0" err="1">
                <a:solidFill>
                  <a:srgbClr val="595959"/>
                </a:solidFill>
                <a:latin typeface="Aptos"/>
              </a:rPr>
              <a:t>Low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Energy (BLE).</a:t>
            </a:r>
          </a:p>
          <a:p>
            <a:pPr>
              <a:lnSpc>
                <a:spcPct val="100000"/>
              </a:lnSpc>
              <a:buClr>
                <a:srgbClr val="8AB833"/>
              </a:buClr>
            </a:pPr>
            <a:endParaRPr lang="pt-BR" sz="1600" b="1" strike="noStrike" spc="-1" dirty="0">
              <a:solidFill>
                <a:srgbClr val="233028"/>
              </a:solidFill>
              <a:latin typeface="Aptos"/>
            </a:endParaRPr>
          </a:p>
          <a:p>
            <a:pPr marL="342900" indent="-342900">
              <a:lnSpc>
                <a:spcPct val="100000"/>
              </a:lnSpc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Bateria Li-Ion 18650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- autonomia para uso diário (13 horas).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C4FDB4D6-A1EC-4954-AF0B-E3769A03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C9F0EA0-386F-444B-80FE-60274499D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14400" y="514350"/>
            <a:ext cx="8229600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785DD6-1036-00EF-F315-B2BB66C9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"/>
          <a:stretch>
            <a:fillRect/>
          </a:stretch>
        </p:blipFill>
        <p:spPr>
          <a:xfrm rot="5400000">
            <a:off x="2513456" y="-1999107"/>
            <a:ext cx="4114801" cy="91417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DF0879-5DDF-49A8-A4F6-95A1430B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4629150"/>
            <a:ext cx="89154" cy="514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88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D714DC3-DC34-B0CD-7691-2F808B0441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55D19D6-52BF-CDB9-15F5-8AC014CED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134A35-2115-EB07-A160-9CD24947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07" y="538163"/>
            <a:ext cx="5366386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5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949507-B63B-BAB0-27D8-4D1AB171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185" y="482600"/>
            <a:ext cx="1880234" cy="4178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4A8E9F5-BEBF-2661-C2B8-92C6B1F05A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033" y="3548033"/>
            <a:ext cx="2486842" cy="1473418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608D94-09E9-E090-95CC-75F179F284F4}"/>
              </a:ext>
            </a:extLst>
          </p:cNvPr>
          <p:cNvCxnSpPr/>
          <p:nvPr/>
        </p:nvCxnSpPr>
        <p:spPr>
          <a:xfrm>
            <a:off x="1657350" y="3321844"/>
            <a:ext cx="464344" cy="226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E0A0371-1F99-FFFD-ABF6-6DAAFD047F33}"/>
              </a:ext>
            </a:extLst>
          </p:cNvPr>
          <p:cNvCxnSpPr>
            <a:cxnSpLocks/>
          </p:cNvCxnSpPr>
          <p:nvPr/>
        </p:nvCxnSpPr>
        <p:spPr>
          <a:xfrm>
            <a:off x="2946797" y="3811096"/>
            <a:ext cx="807244" cy="357664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E16F4378-B29B-9158-F3DC-4BBB756C2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27" y="482600"/>
            <a:ext cx="4257697" cy="2938707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074918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8A18-EE33-2F5B-80FC-AF68CB47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caoTitulo">
            <a:extLst>
              <a:ext uri="{FF2B5EF4-FFF2-40B4-BE49-F238E27FC236}">
                <a16:creationId xmlns:a16="http://schemas.microsoft.com/office/drawing/2014/main" id="{F7550718-894C-CC6C-459F-5ACECAF52602}"/>
              </a:ext>
            </a:extLst>
          </p:cNvPr>
          <p:cNvSpPr txBox="1"/>
          <p:nvPr/>
        </p:nvSpPr>
        <p:spPr>
          <a:xfrm>
            <a:off x="366840" y="613800"/>
            <a:ext cx="4572000" cy="10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688A26"/>
                </a:solidFill>
                <a:latin typeface="Aptos"/>
              </a:rPr>
              <a:t>10. </a:t>
            </a:r>
            <a:r>
              <a:rPr lang="pt-BR" sz="2300" b="1" strike="noStrike" cap="all" spc="-1" dirty="0">
                <a:solidFill>
                  <a:srgbClr val="233028"/>
                </a:solidFill>
                <a:latin typeface="Gill Sans MT"/>
              </a:rPr>
              <a:t>Material - SOFTWARE</a:t>
            </a:r>
          </a:p>
        </p:txBody>
      </p:sp>
      <p:sp>
        <p:nvSpPr>
          <p:cNvPr id="402" name="ConteudoSW">
            <a:extLst>
              <a:ext uri="{FF2B5EF4-FFF2-40B4-BE49-F238E27FC236}">
                <a16:creationId xmlns:a16="http://schemas.microsoft.com/office/drawing/2014/main" id="{4B063702-4CF9-293D-D9F0-0786BB6404AC}"/>
              </a:ext>
            </a:extLst>
          </p:cNvPr>
          <p:cNvSpPr txBox="1"/>
          <p:nvPr/>
        </p:nvSpPr>
        <p:spPr>
          <a:xfrm>
            <a:off x="366840" y="1604610"/>
            <a:ext cx="4712367" cy="11814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Interface Web 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- visualização em tempo real, 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mapa do pé e alertas.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6" name="ConteudoSW">
            <a:extLst>
              <a:ext uri="{FF2B5EF4-FFF2-40B4-BE49-F238E27FC236}">
                <a16:creationId xmlns:a16="http://schemas.microsoft.com/office/drawing/2014/main" id="{50BEE2EF-A8F1-B12E-775C-542C655FE7A9}"/>
              </a:ext>
            </a:extLst>
          </p:cNvPr>
          <p:cNvSpPr txBox="1"/>
          <p:nvPr/>
        </p:nvSpPr>
        <p:spPr>
          <a:xfrm>
            <a:off x="366841" y="2950464"/>
            <a:ext cx="4712366" cy="18072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r>
              <a:rPr lang="pt-BR" sz="1600" b="1" strike="noStrike" spc="-1" dirty="0">
                <a:solidFill>
                  <a:srgbClr val="233028"/>
                </a:solidFill>
                <a:latin typeface="Aptos"/>
              </a:rPr>
              <a:t>Modelo Random Forest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</a:pP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Algoritmo de </a:t>
            </a:r>
            <a:r>
              <a:rPr lang="pt-BR" sz="1600" b="0" i="1" strike="noStrike" spc="-1" dirty="0">
                <a:solidFill>
                  <a:srgbClr val="595959"/>
                </a:solidFill>
                <a:latin typeface="Aptos"/>
              </a:rPr>
              <a:t>Machine Learning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</a:t>
            </a:r>
            <a:r>
              <a:rPr lang="pt-BR" sz="1600" spc="-1" dirty="0">
                <a:solidFill>
                  <a:srgbClr val="595959"/>
                </a:solidFill>
                <a:latin typeface="Aptos"/>
              </a:rPr>
              <a:t> para classificação de</a:t>
            </a:r>
            <a:r>
              <a:rPr lang="pt-BR" sz="1600" b="0" strike="noStrike" spc="-1" dirty="0">
                <a:solidFill>
                  <a:srgbClr val="595959"/>
                </a:solidFill>
                <a:latin typeface="Aptos"/>
              </a:rPr>
              <a:t> de risco.</a:t>
            </a: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Clr>
                <a:srgbClr val="8AB833"/>
              </a:buClr>
              <a:buFont typeface="Arial"/>
              <a:buChar char="●"/>
            </a:pPr>
            <a:endParaRPr lang="pt-BR" sz="1600" b="0" strike="noStrike" spc="-1" dirty="0">
              <a:solidFill>
                <a:srgbClr val="595959"/>
              </a:solidFill>
              <a:latin typeface="Apto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22034E6-494E-9E03-D32C-99BDC399B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808" y="473322"/>
            <a:ext cx="2959761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B649-F376-1544-A5A7-341C9AA9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loco1">
            <a:extLst>
              <a:ext uri="{FF2B5EF4-FFF2-40B4-BE49-F238E27FC236}">
                <a16:creationId xmlns:a16="http://schemas.microsoft.com/office/drawing/2014/main" id="{BBC26AD9-3EF7-56B7-7A3E-765FA867DE0A}"/>
              </a:ext>
            </a:extLst>
          </p:cNvPr>
          <p:cNvSpPr txBox="1"/>
          <p:nvPr/>
        </p:nvSpPr>
        <p:spPr>
          <a:xfrm>
            <a:off x="366840" y="1230419"/>
            <a:ext cx="8400000" cy="349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1600" b="1" strike="noStrike" spc="-1" dirty="0">
                <a:solidFill>
                  <a:srgbClr val="8AB833"/>
                </a:solidFill>
                <a:latin typeface="Gill Sans MT"/>
              </a:rPr>
              <a:t>■  </a:t>
            </a:r>
            <a:r>
              <a:rPr lang="pt-BR" sz="1600" b="1" strike="noStrike" spc="-1" dirty="0">
                <a:latin typeface="Gill Sans MT"/>
              </a:rPr>
              <a:t>Testes de bancada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Protótipo funcional com comunicação BLE.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 Aplicativo conectado e recebendo os dados da palmilha.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Estabilidade da conexão Bluetooth com baixa variação.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2000" spc="-1" dirty="0">
              <a:latin typeface="Gill Sans MT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spc="-1" dirty="0">
                <a:latin typeface="Gill Sans MT"/>
              </a:rPr>
              <a:t>Versão inicial do modelo preditivo utilizando dados sintéticos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600" b="1" strike="noStrike" spc="-1" dirty="0">
              <a:latin typeface="Gill Sans MT"/>
            </a:endParaRPr>
          </a:p>
          <a:p>
            <a:pPr algn="l">
              <a:lnSpc>
                <a:spcPct val="110000"/>
              </a:lnSpc>
            </a:pPr>
            <a:endParaRPr lang="pt-BR" sz="1050" b="0" strike="noStrike" spc="-1" dirty="0">
              <a:solidFill>
                <a:srgbClr val="595959"/>
              </a:solidFill>
              <a:latin typeface="Aptos"/>
            </a:endParaRPr>
          </a:p>
        </p:txBody>
      </p:sp>
      <p:sp>
        <p:nvSpPr>
          <p:cNvPr id="2" name="SecaoTitulo">
            <a:extLst>
              <a:ext uri="{FF2B5EF4-FFF2-40B4-BE49-F238E27FC236}">
                <a16:creationId xmlns:a16="http://schemas.microsoft.com/office/drawing/2014/main" id="{2FA7B40C-9C82-EBCA-3643-8AB4465E7495}"/>
              </a:ext>
            </a:extLst>
          </p:cNvPr>
          <p:cNvSpPr txBox="1"/>
          <p:nvPr/>
        </p:nvSpPr>
        <p:spPr>
          <a:xfrm>
            <a:off x="366840" y="558494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11.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 Resultados</a:t>
            </a:r>
            <a:endParaRPr lang="pt-BR" sz="2000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955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790D-9837-4177-7CE5-1870EDBC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ecaoTitulo">
            <a:extLst>
              <a:ext uri="{FF2B5EF4-FFF2-40B4-BE49-F238E27FC236}">
                <a16:creationId xmlns:a16="http://schemas.microsoft.com/office/drawing/2014/main" id="{BFCA71A4-7F1B-3818-15B0-613F9C6C4E88}"/>
              </a:ext>
            </a:extLst>
          </p:cNvPr>
          <p:cNvSpPr txBox="1"/>
          <p:nvPr/>
        </p:nvSpPr>
        <p:spPr>
          <a:xfrm>
            <a:off x="366839" y="613800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12. 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Discussão: </a:t>
            </a:r>
            <a:r>
              <a:rPr lang="pt-BR" sz="2000" b="1" strike="noStrike" cap="all" spc="-1" dirty="0">
                <a:solidFill>
                  <a:schemeClr val="tx2"/>
                </a:solidFill>
                <a:latin typeface="Gill Sans MT"/>
              </a:rPr>
              <a:t>Lacunas e Respostas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96BC34-AC91-3149-644A-CD403CBEE22E}"/>
              </a:ext>
            </a:extLst>
          </p:cNvPr>
          <p:cNvSpPr txBox="1"/>
          <p:nvPr/>
        </p:nvSpPr>
        <p:spPr>
          <a:xfrm>
            <a:off x="366839" y="1113800"/>
            <a:ext cx="771274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Detalhes de hardware utilizado</a:t>
            </a:r>
            <a:r>
              <a:rPr lang="pt-BR" sz="1600" dirty="0"/>
              <a:t> - dificulta a replicabilidade.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Especificação completa: FSR 402 + DHT22 + ESP32 + Bateria </a:t>
            </a:r>
            <a:r>
              <a:rPr lang="pt-BR" sz="1200" dirty="0"/>
              <a:t>(Código em repositório)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Umidade como variável preditiva </a:t>
            </a:r>
            <a:r>
              <a:rPr lang="pt-BR" sz="1600" dirty="0"/>
              <a:t>- umidade excessiva no interior do calçado favorece a maceração da pele e a proliferação de microrganismos.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Inclusão da umidade no vetor de features do Random Forest + impacto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transparência de custos </a:t>
            </a:r>
            <a:r>
              <a:rPr lang="pt-BR" sz="1600" dirty="0"/>
              <a:t>- </a:t>
            </a:r>
            <a:r>
              <a:rPr lang="pt-BR" sz="1600" dirty="0" err="1"/>
              <a:t>Low</a:t>
            </a:r>
            <a:r>
              <a:rPr lang="pt-BR" sz="1600" dirty="0"/>
              <a:t> </a:t>
            </a:r>
            <a:r>
              <a:rPr lang="pt-BR" sz="1600" dirty="0" err="1"/>
              <a:t>cost</a:t>
            </a:r>
            <a:r>
              <a:rPr lang="pt-BR" sz="1600" dirty="0"/>
              <a:t> sem valores.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Detalhado por componente em moeda nacional.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Ausência de soluções documentadas para o contexto brasileiro</a:t>
            </a:r>
            <a:r>
              <a:rPr lang="pt-B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Documentação em português, componentes do mercado nacional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Aplicativos de código fechado.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u="sng" dirty="0"/>
              <a:t>Proposta</a:t>
            </a:r>
            <a:r>
              <a:rPr lang="pt-BR" sz="1400" dirty="0"/>
              <a:t>: Aplicativo em HTML5 com arquitetura aberta e sem dependência de licenciamento / loja de aplicativos.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4915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ecaoTitulo"/>
          <p:cNvSpPr txBox="1"/>
          <p:nvPr/>
        </p:nvSpPr>
        <p:spPr>
          <a:xfrm>
            <a:off x="581400" y="675360"/>
            <a:ext cx="4594680" cy="938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pc="-1" dirty="0">
                <a:solidFill>
                  <a:srgbClr val="688A26"/>
                </a:solidFill>
                <a:latin typeface="Aptos"/>
              </a:rPr>
              <a:t>13.</a:t>
            </a:r>
            <a:r>
              <a:rPr lang="pt-BR" sz="3200" b="1" strike="noStrike" spc="-1" dirty="0">
                <a:solidFill>
                  <a:schemeClr val="tx2"/>
                </a:solidFill>
                <a:latin typeface="Aptos"/>
              </a:rPr>
              <a:t> </a:t>
            </a:r>
            <a:r>
              <a:rPr lang="pt-BR" sz="2300" b="1" strike="noStrike" cap="all" spc="-1" dirty="0">
                <a:solidFill>
                  <a:schemeClr val="tx2"/>
                </a:solidFill>
                <a:latin typeface="Gill Sans MT"/>
              </a:rPr>
              <a:t>Conclusão</a:t>
            </a:r>
          </a:p>
        </p:txBody>
      </p:sp>
      <p:sp>
        <p:nvSpPr>
          <p:cNvPr id="301" name="FraseSintese"/>
          <p:cNvSpPr txBox="1"/>
          <p:nvPr/>
        </p:nvSpPr>
        <p:spPr>
          <a:xfrm>
            <a:off x="800000" y="1650000"/>
            <a:ext cx="7600000" cy="70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pt-BR" dirty="0"/>
              <a:t>Este trabalho demonstra que é possível monitorar o pé diabético de forma preventiva, com tecnologia acessível, desenvolvida para o contexto real do SUS.</a:t>
            </a:r>
            <a:endParaRPr lang="pt-BR" sz="1800" b="0" strike="noStrike" spc="-1" dirty="0">
              <a:solidFill>
                <a:srgbClr val="455F51"/>
              </a:solidFill>
              <a:latin typeface="Gill Sans MT"/>
            </a:endParaRPr>
          </a:p>
        </p:txBody>
      </p:sp>
      <p:sp>
        <p:nvSpPr>
          <p:cNvPr id="401" name="ConclusoesOBJ"/>
          <p:cNvSpPr txBox="1"/>
          <p:nvPr/>
        </p:nvSpPr>
        <p:spPr>
          <a:xfrm>
            <a:off x="672000" y="2568140"/>
            <a:ext cx="7800000" cy="13180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pt-BR" sz="1400" b="1" dirty="0"/>
              <a:t>Protótipo funcional</a:t>
            </a:r>
            <a:r>
              <a:rPr lang="pt-BR" sz="1400" dirty="0"/>
              <a:t> - palmilha, interface e modelo preditivo integrados por R$ 337,65.</a:t>
            </a:r>
          </a:p>
          <a:p>
            <a:endParaRPr lang="pt-BR" sz="1400" dirty="0"/>
          </a:p>
          <a:p>
            <a:r>
              <a:rPr lang="pt-BR" sz="1400" b="1" dirty="0"/>
              <a:t>Próximo passo</a:t>
            </a:r>
            <a:r>
              <a:rPr lang="pt-BR" sz="1400" dirty="0"/>
              <a:t> - validação da palmilha em uso diário.</a:t>
            </a:r>
          </a:p>
          <a:p>
            <a:endParaRPr lang="pt-BR" sz="1400" dirty="0"/>
          </a:p>
          <a:p>
            <a:r>
              <a:rPr lang="pt-BR" sz="1400" b="1" dirty="0"/>
              <a:t>Perspectiva</a:t>
            </a:r>
            <a:r>
              <a:rPr lang="pt-BR" sz="1400" dirty="0"/>
              <a:t> - integração ao fluxo do SUS como ferramenta de atenção primária.</a:t>
            </a:r>
          </a:p>
          <a:p>
            <a:endParaRPr lang="pt-BR" sz="1400" dirty="0"/>
          </a:p>
          <a:p>
            <a:endParaRPr lang="pt-BR" sz="1400" i="1" dirty="0"/>
          </a:p>
          <a:p>
            <a:pPr algn="ctr"/>
            <a:r>
              <a:rPr lang="pt-BR" sz="1400" i="1" dirty="0"/>
              <a:t>Das 85 amputações que acontecem todo dia, apenas no Brasil, se conseguirmos evitar nem que seja uma, já teremos cumprido o propósito desta pesquisa.</a:t>
            </a:r>
            <a:endParaRPr lang="pt-BR" sz="1400" dirty="0"/>
          </a:p>
          <a:p>
            <a:endParaRPr lang="pt-B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1DC4-BA36-39DE-9DDE-9EBFB092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aoTitulo">
            <a:extLst>
              <a:ext uri="{FF2B5EF4-FFF2-40B4-BE49-F238E27FC236}">
                <a16:creationId xmlns:a16="http://schemas.microsoft.com/office/drawing/2014/main" id="{F0965B6E-564D-4686-D7D6-936A7C956CC8}"/>
              </a:ext>
            </a:extLst>
          </p:cNvPr>
          <p:cNvSpPr txBox="1"/>
          <p:nvPr/>
        </p:nvSpPr>
        <p:spPr>
          <a:xfrm>
            <a:off x="366840" y="558494"/>
            <a:ext cx="7041229" cy="10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800" b="1" spc="-1" dirty="0">
                <a:solidFill>
                  <a:srgbClr val="688A26"/>
                </a:solidFill>
                <a:latin typeface="Aptos"/>
              </a:rPr>
              <a:t>14.</a:t>
            </a:r>
            <a:r>
              <a:rPr lang="pt-BR" sz="2800" b="1" strike="noStrike" spc="-1" dirty="0">
                <a:solidFill>
                  <a:schemeClr val="tx2"/>
                </a:solidFill>
                <a:latin typeface="Aptos"/>
              </a:rPr>
              <a:t> Cronograma - próximas fases</a:t>
            </a:r>
            <a:endParaRPr lang="pt-BR" sz="2000" b="1" strike="noStrike" cap="all" spc="-1" dirty="0">
              <a:solidFill>
                <a:schemeClr val="tx2"/>
              </a:solidFill>
              <a:latin typeface="Gill Sans MT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770C282-92AD-29CB-E5DF-103734C07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35394"/>
              </p:ext>
            </p:extLst>
          </p:nvPr>
        </p:nvGraphicFramePr>
        <p:xfrm>
          <a:off x="171449" y="1058494"/>
          <a:ext cx="8808245" cy="3886446"/>
        </p:xfrm>
        <a:graphic>
          <a:graphicData uri="http://schemas.openxmlformats.org/drawingml/2006/table">
            <a:tbl>
              <a:tblPr/>
              <a:tblGrid>
                <a:gridCol w="2267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7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8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83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89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Atividade</a:t>
                      </a: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   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7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Mai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Ago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Out/Nov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Dez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Revisão sistemática PRISMA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Desenvolvimento da palmilha (hardware)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800" dirty="0"/>
                    </a:p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Interface web (HTML5)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Pipeline do modelo Random Forest</a:t>
                      </a:r>
                      <a:endParaRPr lang="en-US" sz="800" b="1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Calibração</a:t>
                      </a: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 / Coleta de dados / treinamento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Submissão ao CEP/UERJ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Teste piloto (paciente)</a:t>
                      </a:r>
                      <a:endParaRPr lang="en-US" sz="800" b="1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Análise dos resultados e </a:t>
                      </a:r>
                      <a:r>
                        <a:rPr lang="en-US" sz="800" b="1" dirty="0">
                          <a:solidFill>
                            <a:srgbClr val="444444"/>
                          </a:solidFill>
                          <a:highlight>
                            <a:srgbClr val="FFFF00"/>
                          </a:highlight>
                        </a:rPr>
                        <a:t>validação clínica</a:t>
                      </a:r>
                      <a:endParaRPr lang="en-US" sz="800" b="1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Redação final da dissertação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</a:rPr>
                        <a:t>Defesa da dissertação</a:t>
                      </a:r>
                      <a:endParaRPr lang="en-US" sz="800" b="1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6E35"/>
                          </a:solidFill>
                        </a:rPr>
                        <a:t>█</a:t>
                      </a:r>
                      <a:endParaRPr lang="en-US" sz="1400" dirty="0"/>
                    </a:p>
                  </a:txBody>
                  <a:tcPr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72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C8842-791C-C779-311D-516DAE55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23EF37-19EC-4973-A7AF-4BBF6864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0317E5-9EEB-D348-97FD-BD8DCEC8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75" r="-5" b="9495"/>
          <a:stretch>
            <a:fillRect/>
          </a:stretch>
        </p:blipFill>
        <p:spPr>
          <a:xfrm rot="5400000">
            <a:off x="1150055" y="-251209"/>
            <a:ext cx="1671569" cy="30097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FE09B3-DE6F-6593-4C56-F2B203D7F4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0" r="1155" b="-4"/>
          <a:stretch>
            <a:fillRect/>
          </a:stretch>
        </p:blipFill>
        <p:spPr>
          <a:xfrm>
            <a:off x="482600" y="2218248"/>
            <a:ext cx="3008122" cy="250735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EB86501-CF23-CD9F-AA93-EA5953710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3"/>
          <a:stretch>
            <a:fillRect/>
          </a:stretch>
        </p:blipFill>
        <p:spPr>
          <a:xfrm>
            <a:off x="3635117" y="417891"/>
            <a:ext cx="5026282" cy="43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1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10573</TotalTime>
  <Words>1558</Words>
  <Application>Microsoft Office PowerPoint</Application>
  <PresentationFormat>Apresentação na tela (16:9)</PresentationFormat>
  <Paragraphs>330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23</vt:i4>
      </vt:variant>
    </vt:vector>
  </HeadingPairs>
  <TitlesOfParts>
    <vt:vector size="39" baseType="lpstr">
      <vt:lpstr>Aptos</vt:lpstr>
      <vt:lpstr>Arial</vt:lpstr>
      <vt:lpstr>Consolas</vt:lpstr>
      <vt:lpstr>Georgia</vt:lpstr>
      <vt:lpstr>Gill Sans MT</vt:lpstr>
      <vt:lpstr>Helvetica Neue Medium</vt:lpstr>
      <vt:lpstr>Nunito Sans</vt:lpstr>
      <vt:lpstr>Nunito Sans</vt:lpstr>
      <vt:lpstr>OpenSymbol</vt:lpstr>
      <vt:lpstr>Symbol</vt:lpstr>
      <vt:lpstr>Times New Roman</vt:lpstr>
      <vt:lpstr>Wingdings</vt:lpstr>
      <vt:lpstr>Office</vt:lpstr>
      <vt:lpstr>Office</vt:lpstr>
      <vt:lpstr>Office</vt:lpstr>
      <vt:lpstr>Office</vt:lpstr>
      <vt:lpstr>Arquitetura de baixo custo para monitoramento preventivo do pé diabético: proposta de sistema com sensores e modelo preditivo baseado em Random Forest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Chrysthian Chrisley</dc:creator>
  <cp:lastModifiedBy>Chrysthian Chrisley</cp:lastModifiedBy>
  <cp:revision>16</cp:revision>
  <dcterms:modified xsi:type="dcterms:W3CDTF">2026-04-14T18:39:36Z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Alexandra Monteiro</dc:creator>
  <dc:description/>
  <dc:language>en-US</dc:language>
  <cp:lastModifiedBy>Universidade do Estado do Rio de Janeiro - Telessaúde</cp:lastModifiedBy>
  <dcterms:modified xsi:type="dcterms:W3CDTF">2026-01-26T18:13:03Z</dcterms:modified>
  <cp:revision>60</cp:revision>
  <dc:subject/>
  <dc:title>THIS IS YOUR PRESENTATION (OR SLIDEDOC) TITLE</dc:title>
</cp:coreProperties>
</file>