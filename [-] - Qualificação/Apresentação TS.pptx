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Gill Sans"/>
      <p:regular r:id="rId13"/>
      <p:bold r:id="rId14"/>
    </p:embeddedFont>
    <p:embeddedFont>
      <p:font typeface="Nuni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ill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Sans-regular.fntdata"/><Relationship Id="rId14" Type="http://schemas.openxmlformats.org/officeDocument/2006/relationships/font" Target="fonts/GillSans-bold.fntdata"/><Relationship Id="rId17" Type="http://schemas.openxmlformats.org/officeDocument/2006/relationships/font" Target="fonts/NunitoSans-italic.fntdata"/><Relationship Id="rId16" Type="http://schemas.openxmlformats.org/officeDocument/2006/relationships/font" Target="fonts/Nuni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Nunito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6" y="685800"/>
            <a:ext cx="609629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/>
          <p:nvPr>
            <p:ph idx="2" type="sldImg"/>
          </p:nvPr>
        </p:nvSpPr>
        <p:spPr>
          <a:xfrm>
            <a:off x="381003" y="685800"/>
            <a:ext cx="60960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ed21905f2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ded21905f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d21905f2_2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ded21905f2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468922" y="2387251"/>
            <a:ext cx="3636596" cy="22589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Font typeface="Gill Sans"/>
              <a:buNone/>
              <a:defRPr b="1" sz="3000">
                <a:solidFill>
                  <a:srgbClr val="F6703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logo_uerj_cor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2733" y="555571"/>
            <a:ext cx="495083" cy="544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185" y="532427"/>
            <a:ext cx="456907" cy="56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 rot="5400013">
            <a:off x="658203" y="853354"/>
            <a:ext cx="592476" cy="0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436" y="362833"/>
            <a:ext cx="964371" cy="8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Subtitle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277099" y="284195"/>
            <a:ext cx="1824840" cy="36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100"/>
              <a:buFont typeface="Gill Sans"/>
              <a:buNone/>
              <a:defRPr>
                <a:solidFill>
                  <a:srgbClr val="F6703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77099" y="3983053"/>
            <a:ext cx="1824840" cy="7848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42"/>
              <a:buNone/>
              <a:defRPr i="1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lvl="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lvl="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_uerj_cor.png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3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 + 1 column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090626" y="575495"/>
            <a:ext cx="5596201" cy="39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42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78903" y="4705447"/>
            <a:ext cx="548704" cy="39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sz="675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u="none" cap="none" strike="noStrike"/>
          </a:p>
        </p:txBody>
      </p:sp>
      <p:cxnSp>
        <p:nvCxnSpPr>
          <p:cNvPr id="30" name="Google Shape;30;p4"/>
          <p:cNvCxnSpPr/>
          <p:nvPr/>
        </p:nvCxnSpPr>
        <p:spPr>
          <a:xfrm>
            <a:off x="2178576" y="4542227"/>
            <a:ext cx="5064176" cy="0"/>
          </a:xfrm>
          <a:prstGeom prst="straightConnector1">
            <a:avLst/>
          </a:prstGeom>
          <a:noFill/>
          <a:ln cap="rnd" cmpd="sng" w="9525">
            <a:solidFill>
              <a:srgbClr val="BFBFBF"/>
            </a:solidFill>
            <a:prstDash val="dashDot"/>
            <a:miter lim="8000"/>
            <a:headEnd len="sm" w="sm" type="none"/>
            <a:tailEnd len="sm" w="sm" type="none"/>
          </a:ln>
        </p:spPr>
      </p:cxnSp>
      <p:sp>
        <p:nvSpPr>
          <p:cNvPr id="31" name="Google Shape;31;p4"/>
          <p:cNvSpPr txBox="1"/>
          <p:nvPr>
            <p:ph type="title"/>
          </p:nvPr>
        </p:nvSpPr>
        <p:spPr>
          <a:xfrm>
            <a:off x="179707" y="575495"/>
            <a:ext cx="1800481" cy="2401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2" name="Google Shape;32;p4"/>
          <p:cNvCxnSpPr/>
          <p:nvPr/>
        </p:nvCxnSpPr>
        <p:spPr>
          <a:xfrm flipH="1" rot="10800000">
            <a:off x="2671218" y="4902253"/>
            <a:ext cx="4571534" cy="15947"/>
          </a:xfrm>
          <a:prstGeom prst="straightConnector1">
            <a:avLst/>
          </a:prstGeom>
          <a:noFill/>
          <a:ln cap="rnd" cmpd="sng" w="9525">
            <a:solidFill>
              <a:srgbClr val="BFBFBF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uerj-01.png"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6013" y="3734839"/>
            <a:ext cx="938933" cy="66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ção gerada automaticamente com confiança média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14" y="4397861"/>
            <a:ext cx="690344" cy="682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erj_cor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36" name="Google Shape;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4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38" name="Google Shape;3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334899" y="2314328"/>
            <a:ext cx="8447154" cy="247860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>
            <p:ph type="ctrTitle"/>
          </p:nvPr>
        </p:nvSpPr>
        <p:spPr>
          <a:xfrm>
            <a:off x="435894" y="765325"/>
            <a:ext cx="8245163" cy="11062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9E39"/>
              </a:buClr>
              <a:buSzPts val="2700"/>
              <a:buFont typeface="Gill Sans"/>
              <a:buNone/>
              <a:defRPr sz="2700">
                <a:solidFill>
                  <a:srgbClr val="549E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435894" y="1871584"/>
            <a:ext cx="8245163" cy="442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4"/>
              <a:buNone/>
              <a:defRPr sz="1200" cap="none">
                <a:solidFill>
                  <a:srgbClr val="8AB833"/>
                </a:solidFill>
              </a:defRPr>
            </a:lvl1pPr>
            <a:lvl2pPr lvl="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lvl="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lvl="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7918722" y="4467100"/>
            <a:ext cx="76232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330217" y="460802"/>
            <a:ext cx="8482001" cy="891969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35894" y="526621"/>
            <a:ext cx="8272211" cy="760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435894" y="1635376"/>
            <a:ext cx="8272211" cy="2758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335859" y="3856481"/>
            <a:ext cx="8468148" cy="94411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35894" y="2282936"/>
            <a:ext cx="8272211" cy="1123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9E39"/>
              </a:buClr>
              <a:buSzPts val="2700"/>
              <a:buFont typeface="Gill Sans"/>
              <a:buNone/>
              <a:defRPr sz="2700">
                <a:solidFill>
                  <a:srgbClr val="549E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435894" y="3406066"/>
            <a:ext cx="8272211" cy="450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None/>
              <a:defRPr cap="none">
                <a:solidFill>
                  <a:srgbClr val="8AB833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334487" y="454914"/>
            <a:ext cx="8475024" cy="94411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435894" y="547240"/>
            <a:ext cx="8272211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435894" y="1671001"/>
            <a:ext cx="4066794" cy="2724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4641311" y="1671001"/>
            <a:ext cx="4066794" cy="2724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334487" y="454914"/>
            <a:ext cx="8475024" cy="94411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435894" y="547240"/>
            <a:ext cx="8272211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" type="body"/>
          </p:nvPr>
        </p:nvSpPr>
        <p:spPr>
          <a:xfrm>
            <a:off x="665418" y="1688165"/>
            <a:ext cx="3815306" cy="4020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18"/>
              <a:buNone/>
              <a:defRPr sz="1650">
                <a:solidFill>
                  <a:srgbClr val="8AB833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2" type="body"/>
          </p:nvPr>
        </p:nvSpPr>
        <p:spPr>
          <a:xfrm>
            <a:off x="435894" y="2194541"/>
            <a:ext cx="4044820" cy="2201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3" type="body"/>
          </p:nvPr>
        </p:nvSpPr>
        <p:spPr>
          <a:xfrm>
            <a:off x="4892798" y="1688165"/>
            <a:ext cx="3815306" cy="4150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18"/>
              <a:buNone/>
              <a:defRPr sz="1650">
                <a:solidFill>
                  <a:srgbClr val="8AB833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663284" y="2194541"/>
            <a:ext cx="4044820" cy="2201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330509" y="454914"/>
            <a:ext cx="8475024" cy="94411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431916" y="547240"/>
            <a:ext cx="8272211" cy="741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bg>
      <p:bgPr>
        <a:solidFill>
          <a:srgbClr val="27531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enho com traços pretos em fundo branco&#10;&#10;Descrição gerada automaticamente com confiança média" id="85" name="Google Shape;8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6894" y="568637"/>
            <a:ext cx="343585" cy="422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86" name="Google Shape;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982" y="577205"/>
            <a:ext cx="370469" cy="416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ção gerada automaticamente com confiança média" id="87" name="Google Shape;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1595" y="564395"/>
            <a:ext cx="524289" cy="5179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1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FFFFFF"/>
            </a:solidFill>
            <a:prstDash val="dash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35859" y="3856481"/>
            <a:ext cx="8473653" cy="956023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435894" y="3946724"/>
            <a:ext cx="3682087" cy="517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1500"/>
              <a:buFont typeface="Gill Sans"/>
              <a:buNone/>
              <a:defRPr sz="1500">
                <a:solidFill>
                  <a:srgbClr val="78C4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35859" y="450899"/>
            <a:ext cx="8469630" cy="3153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623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80"/>
              <a:buChar char="◼"/>
              <a:defRPr sz="1500"/>
            </a:lvl1pPr>
            <a:lvl2pPr indent="-307467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42"/>
              <a:buChar char="◼"/>
              <a:defRPr sz="1350"/>
            </a:lvl2pPr>
            <a:lvl3pPr indent="-298704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 sz="1200"/>
            </a:lvl3pPr>
            <a:lvl4pPr indent="-289941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/>
            </a:lvl4pPr>
            <a:lvl5pPr indent="-289941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2" type="body"/>
          </p:nvPr>
        </p:nvSpPr>
        <p:spPr>
          <a:xfrm>
            <a:off x="4305616" y="3946724"/>
            <a:ext cx="4402488" cy="517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59"/>
              <a:buNone/>
              <a:defRPr sz="825">
                <a:solidFill>
                  <a:srgbClr val="FFFFFF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435894" y="3520037"/>
            <a:ext cx="8272211" cy="425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9E39"/>
              </a:buClr>
              <a:buSzPts val="1800"/>
              <a:buFont typeface="Gill Sans"/>
              <a:buNone/>
              <a:defRPr sz="1800">
                <a:solidFill>
                  <a:srgbClr val="549E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/>
          <p:nvPr>
            <p:ph idx="2" type="pic"/>
          </p:nvPr>
        </p:nvSpPr>
        <p:spPr>
          <a:xfrm>
            <a:off x="335859" y="449793"/>
            <a:ext cx="8468139" cy="2667935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435894" y="3945096"/>
            <a:ext cx="8272211" cy="449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28"/>
              <a:buNone/>
              <a:defRPr sz="900"/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330217" y="460802"/>
            <a:ext cx="8482001" cy="891969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>
            <p:ph type="title"/>
          </p:nvPr>
        </p:nvSpPr>
        <p:spPr>
          <a:xfrm>
            <a:off x="435894" y="526621"/>
            <a:ext cx="8272211" cy="760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 rot="5400000">
            <a:off x="3250953" y="-1063060"/>
            <a:ext cx="2642094" cy="827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6629400" y="449793"/>
            <a:ext cx="2180112" cy="4362712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 rot="5400000">
            <a:off x="5437311" y="1698886"/>
            <a:ext cx="3887306" cy="1503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 rot="5400000">
            <a:off x="1598645" y="-510656"/>
            <a:ext cx="3887306" cy="592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7467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42"/>
              <a:buChar char="◼"/>
              <a:defRPr/>
            </a:lvl1pPr>
            <a:lvl2pPr indent="-298704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4"/>
              <a:buChar char="◼"/>
              <a:defRPr/>
            </a:lvl2pPr>
            <a:lvl3pPr indent="-289941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6"/>
              <a:buChar char="◼"/>
              <a:defRPr/>
            </a:lvl3pPr>
            <a:lvl4pPr indent="-28117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4pPr>
            <a:lvl5pPr indent="-281178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28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0" type="dt"/>
          </p:nvPr>
        </p:nvSpPr>
        <p:spPr>
          <a:xfrm>
            <a:off x="6745254" y="4467100"/>
            <a:ext cx="99610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C45C"/>
              </a:buClr>
              <a:buSzPts val="675"/>
              <a:buFont typeface="Gill Sans"/>
              <a:buNone/>
              <a:defRPr>
                <a:solidFill>
                  <a:srgbClr val="78C45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581192" y="4463863"/>
            <a:ext cx="5922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7834963" y="4467100"/>
            <a:ext cx="873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000" u="none" cap="none" strike="noStrike">
              <a:solidFill>
                <a:srgbClr val="CCCCCC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rgbClr val="FFFFFF">
            <a:alpha val="89019"/>
          </a:srgbClr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uerj_cor.png" id="119" name="Google Shape;1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6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 with intro text">
  <p:cSld name="Title + 2 columns with intro text"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179707" y="575495"/>
            <a:ext cx="1897370" cy="3344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erj-01.png" id="125" name="Google Shape;12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6013" y="3734839"/>
            <a:ext cx="938933" cy="66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ção gerada automaticamente com confiança média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14" y="4397861"/>
            <a:ext cx="690344" cy="682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erj_cor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7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 + 3 columns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179707" y="575495"/>
            <a:ext cx="2599822" cy="32677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erj-01.png" id="133" name="Google Shape;13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6013" y="3734839"/>
            <a:ext cx="938933" cy="66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erj_cor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8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179707" y="575495"/>
            <a:ext cx="2290983" cy="31801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erj-01.png" id="140" name="Google Shape;14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6013" y="3734839"/>
            <a:ext cx="938933" cy="66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ção gerada automaticamente com confiança média"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14" y="4397861"/>
            <a:ext cx="690344" cy="682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erj_cor.png"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43" name="Google Shape;1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9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145" name="Google Shape;14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>
  <p:cSld name="Title + 2 columns"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2507001" y="575495"/>
            <a:ext cx="3120975" cy="39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◼"/>
              <a:defRPr sz="1100"/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2" type="body"/>
          </p:nvPr>
        </p:nvSpPr>
        <p:spPr>
          <a:xfrm>
            <a:off x="5401497" y="575495"/>
            <a:ext cx="3120984" cy="39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◼"/>
              <a:defRPr sz="1100"/>
            </a:lvl1pPr>
            <a:lvl2pPr indent="-333756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56"/>
              <a:buChar char="◼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type="title"/>
          </p:nvPr>
        </p:nvSpPr>
        <p:spPr>
          <a:xfrm>
            <a:off x="179707" y="575495"/>
            <a:ext cx="2145648" cy="3223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erj-01.png" id="150" name="Google Shape;15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46013" y="3734839"/>
            <a:ext cx="938933" cy="66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ção gerada automaticamente com confiança média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14" y="4397861"/>
            <a:ext cx="690344" cy="682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uerj_cor.png"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771" y="534210"/>
            <a:ext cx="384230" cy="422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53" name="Google Shape;15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122" y="524371"/>
            <a:ext cx="354604" cy="436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0"/>
          <p:cNvCxnSpPr/>
          <p:nvPr/>
        </p:nvCxnSpPr>
        <p:spPr>
          <a:xfrm>
            <a:off x="7856369" y="570695"/>
            <a:ext cx="0" cy="421273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pic>
        <p:nvPicPr>
          <p:cNvPr descr="Texto&#10;&#10;Descrição gerada automaticamente com confiança baixa" id="155" name="Google Shape;15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847" y="393758"/>
            <a:ext cx="748445" cy="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5894" y="528843"/>
            <a:ext cx="8272211" cy="8921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ill Sans"/>
              <a:buNone/>
              <a:defRPr b="0" i="0" sz="2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5894" y="1751999"/>
            <a:ext cx="8272211" cy="2642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7467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AB833"/>
              </a:buClr>
              <a:buSzPts val="1242"/>
              <a:buFont typeface="Noto Sans Symbols"/>
              <a:buChar char="◼"/>
              <a:defRPr b="0" i="0" sz="1350" u="none" cap="none" strike="noStrike">
                <a:solidFill>
                  <a:srgbClr val="455F5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98704" lvl="1" marL="914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8AB833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rgbClr val="455F5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89941" lvl="2" marL="1371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8AB833"/>
              </a:buClr>
              <a:buSzPts val="966"/>
              <a:buFont typeface="Noto Sans Symbols"/>
              <a:buChar char="◼"/>
              <a:defRPr b="0" i="0" sz="1050" u="none" cap="none" strike="noStrike">
                <a:solidFill>
                  <a:srgbClr val="455F5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81178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8AB833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rgbClr val="455F5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81178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8AB833"/>
              </a:buClr>
              <a:buSzPts val="828"/>
              <a:buFont typeface="Noto Sans Symbols"/>
              <a:buChar char="◼"/>
              <a:defRPr b="0" i="0" sz="900" u="none" cap="none" strike="noStrike">
                <a:solidFill>
                  <a:srgbClr val="455F5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704466" y="4467100"/>
            <a:ext cx="213359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b="0" i="0" sz="675" u="none" cap="none" strike="noStrike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35894" y="4463863"/>
            <a:ext cx="51879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Pts val="675"/>
              <a:buFont typeface="Gill Sans"/>
              <a:buNone/>
              <a:defRPr b="0" i="0" sz="675" u="none" cap="none" strike="noStrike">
                <a:solidFill>
                  <a:srgbClr val="8AB83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918722" y="4467100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Nunito Sans"/>
              <a:buNone/>
              <a:defRPr b="0" i="0" sz="1000" u="none" cap="none" strike="noStrike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899" y="342900"/>
            <a:ext cx="2777490" cy="7125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6031611" y="340229"/>
            <a:ext cx="2777490" cy="73920"/>
          </a:xfrm>
          <a:prstGeom prst="rect">
            <a:avLst/>
          </a:prstGeom>
          <a:solidFill>
            <a:srgbClr val="0296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181371" y="342900"/>
            <a:ext cx="2777490" cy="68580"/>
          </a:xfrm>
          <a:prstGeom prst="rect">
            <a:avLst/>
          </a:prstGeom>
          <a:solidFill>
            <a:srgbClr val="8AB8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>
            <a:alpha val="60000"/>
          </a:srgbClr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ctrTitle"/>
          </p:nvPr>
        </p:nvSpPr>
        <p:spPr>
          <a:xfrm>
            <a:off x="1440874" y="1826568"/>
            <a:ext cx="6331525" cy="1026423"/>
          </a:xfrm>
          <a:prstGeom prst="rect">
            <a:avLst/>
          </a:prstGeom>
          <a:noFill/>
          <a:ln>
            <a:noFill/>
          </a:ln>
        </p:spPr>
        <p:txBody>
          <a:bodyPr anchorCtr="1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028"/>
              </a:buClr>
              <a:buSzPts val="3000"/>
              <a:buFont typeface="Gill Sans"/>
              <a:buNone/>
            </a:pPr>
            <a:r>
              <a:rPr lang="pt-BR">
                <a:solidFill>
                  <a:srgbClr val="233028"/>
                </a:solidFill>
              </a:rPr>
              <a:t>CASO FICTÍCIO PARA DISCUSSÃO EM TELESSAÚDE</a:t>
            </a:r>
            <a:endParaRPr/>
          </a:p>
        </p:txBody>
      </p:sp>
      <p:cxnSp>
        <p:nvCxnSpPr>
          <p:cNvPr id="161" name="Google Shape;161;p21"/>
          <p:cNvCxnSpPr/>
          <p:nvPr/>
        </p:nvCxnSpPr>
        <p:spPr>
          <a:xfrm flipH="1" rot="10800000">
            <a:off x="2015657" y="2801182"/>
            <a:ext cx="5112685" cy="17849"/>
          </a:xfrm>
          <a:prstGeom prst="straightConnector1">
            <a:avLst/>
          </a:prstGeom>
          <a:noFill/>
          <a:ln cap="rnd" cmpd="sng" w="22225">
            <a:solidFill>
              <a:srgbClr val="C2C2C2"/>
            </a:solidFill>
            <a:prstDash val="dashDot"/>
            <a:miter lim="8000"/>
            <a:headEnd len="sm" w="sm" type="none"/>
            <a:tailEnd len="sm" w="sm" type="none"/>
          </a:ln>
        </p:spPr>
      </p:cxnSp>
      <p:sp>
        <p:nvSpPr>
          <p:cNvPr id="162" name="Google Shape;162;p21"/>
          <p:cNvSpPr txBox="1"/>
          <p:nvPr/>
        </p:nvSpPr>
        <p:spPr>
          <a:xfrm>
            <a:off x="1614050" y="2898100"/>
            <a:ext cx="6573600" cy="4992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810"/>
              </a:buClr>
              <a:buSzPts val="1600"/>
              <a:buFont typeface="Nunito Sans"/>
              <a:buNone/>
            </a:pPr>
            <a:r>
              <a:rPr b="1" i="1" lang="pt-BR" sz="1600" u="none" cap="none" strike="noStrike">
                <a:solidFill>
                  <a:srgbClr val="1B1810"/>
                </a:solidFill>
                <a:latin typeface="Nunito Sans"/>
                <a:ea typeface="Nunito Sans"/>
                <a:cs typeface="Nunito Sans"/>
                <a:sym typeface="Nunito Sans"/>
              </a:rPr>
              <a:t>Atendimento remoto em saúde mental: análise ética, técnica e legal</a:t>
            </a:r>
            <a:endParaRPr b="1" i="1" sz="2000" u="none" cap="none" strike="noStrike">
              <a:solidFill>
                <a:srgbClr val="1B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1032165" y="3517769"/>
            <a:ext cx="7003471" cy="76098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unito Sa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Adriano Freitas Silva, Agustin Rodrigues de Lima, Álvaro Andrade Souza do Amaral, Bruno Cardoso Dantas, Bruno de Medeiros Correa, Bruno Ormonde Lima de Oliveira, Carlos Alberto Pereira Barros, Chrysthian </a:t>
            </a:r>
            <a:r>
              <a:rPr lang="pt-BR" sz="1000">
                <a:latin typeface="Nunito Sans"/>
                <a:ea typeface="Nunito Sans"/>
                <a:cs typeface="Nunito Sans"/>
                <a:sym typeface="Nunito Sans"/>
              </a:rPr>
              <a:t>Chrisley</a:t>
            </a:r>
            <a:r>
              <a:rPr b="0" i="0" lang="pt-BR" sz="100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, Cícero Santos Souza, Daiana Evangelista La Macchia, Daniel Costa Resnitzky</a:t>
            </a:r>
            <a:endParaRPr b="1" i="0" sz="10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>
            <a:alpha val="60000"/>
          </a:srgbClr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4294967295" type="subTitle"/>
          </p:nvPr>
        </p:nvSpPr>
        <p:spPr>
          <a:xfrm>
            <a:off x="260650" y="1045026"/>
            <a:ext cx="8260500" cy="3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42900" lvl="0" marL="45720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8AB833"/>
              </a:buClr>
              <a:buSzPts val="1800"/>
              <a:buFont typeface="Gill Sans"/>
              <a:buChar char="■"/>
            </a:pPr>
            <a:r>
              <a:rPr lang="pt-BR" sz="1200">
                <a:solidFill>
                  <a:srgbClr val="595959"/>
                </a:solidFill>
              </a:rPr>
              <a:t>Professora da rede pública, 34 anos, procurou atendimento remoto relatando sofrimento emocional importante, insônia, crises de ansiedade recorrentes e dificuldade para manter atividades diárias e laborais.</a:t>
            </a:r>
            <a:endParaRPr sz="12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8AB833"/>
              </a:buClr>
              <a:buSzPts val="1800"/>
              <a:buFont typeface="Gill Sans"/>
              <a:buChar char="■"/>
            </a:pPr>
            <a:r>
              <a:rPr lang="pt-BR" sz="1200">
                <a:solidFill>
                  <a:srgbClr val="595959"/>
                </a:solidFill>
              </a:rPr>
              <a:t>Possuía acompanhamento prévio em outro serviço da rede, mas, diante da dificuldade de deslocamento, da sobrecarga de trabalho e da piora recente do quadro, buscou suporte imediato por teleatendimento, após indicação de uma médica sugerida pela colega de trabalho.</a:t>
            </a:r>
            <a:endParaRPr sz="12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8AB833"/>
              </a:buClr>
              <a:buSzPts val="1800"/>
              <a:buFont typeface="Gill Sans"/>
              <a:buChar char="■"/>
            </a:pPr>
            <a:r>
              <a:rPr lang="pt-BR" sz="1200">
                <a:solidFill>
                  <a:srgbClr val="595959"/>
                </a:solidFill>
              </a:rPr>
              <a:t>O primeiro contato ocorreu por meio do aplicativo Whatsapp. Diante da demanda apresentada, foi sugerida a realização de uma consulta por videochamada no mesmo dia, utilizando o mesmo aplicativo utilizado no primeiro contato, por ser mais prático e acessível naquele momento.</a:t>
            </a:r>
            <a:endParaRPr sz="12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8AB833"/>
              </a:buClr>
              <a:buSzPts val="1800"/>
              <a:buFont typeface="Gill Sans"/>
              <a:buChar char="■"/>
            </a:pPr>
            <a:r>
              <a:rPr lang="pt-BR" sz="1200">
                <a:solidFill>
                  <a:srgbClr val="595959"/>
                </a:solidFill>
              </a:rPr>
              <a:t>A paciente aceitou a proposta e, no horário combinado, a videochamada foi iniciada.</a:t>
            </a:r>
            <a:endParaRPr sz="1200">
              <a:solidFill>
                <a:srgbClr val="595959"/>
              </a:solidFill>
            </a:endParaRPr>
          </a:p>
          <a:p>
            <a:pPr indent="0" lvl="0" marL="229497" marR="0" rtl="0" algn="just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326745" y="460025"/>
            <a:ext cx="712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688A26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pt-BR"/>
              <a:t> </a:t>
            </a: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APRESENTAÇÃO DO CASO</a:t>
            </a:r>
            <a:endParaRPr b="1" i="0" sz="2300" u="none" cap="none" strike="noStrike">
              <a:solidFill>
                <a:srgbClr val="23302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4294967295" type="body"/>
          </p:nvPr>
        </p:nvSpPr>
        <p:spPr>
          <a:xfrm>
            <a:off x="584546" y="1517729"/>
            <a:ext cx="7515600" cy="27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04796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A videochamada foi realizada a partir do celular da profissional, durante plantão, em um dos espaços disponíve</a:t>
            </a:r>
            <a:r>
              <a:rPr lang="pt-BR" sz="1600">
                <a:solidFill>
                  <a:srgbClr val="595959"/>
                </a:solidFill>
              </a:rPr>
              <a:t>ís</a:t>
            </a:r>
            <a:r>
              <a:rPr lang="pt-BR" sz="1600">
                <a:solidFill>
                  <a:srgbClr val="595959"/>
                </a:solidFill>
              </a:rPr>
              <a:t> na unidade hospitalar.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Ao longo da consulta, ocorreram interrupções breves, circulação de pessoas no entorno e oscilações de conexão, exigindo, em alguns momentos, a repetição de informações clínicas.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Para melhor compreens</a:t>
            </a:r>
            <a:r>
              <a:rPr lang="pt-BR" sz="1600">
                <a:solidFill>
                  <a:srgbClr val="595959"/>
                </a:solidFill>
              </a:rPr>
              <a:t>ão</a:t>
            </a:r>
            <a:r>
              <a:rPr lang="pt-BR" sz="1600">
                <a:solidFill>
                  <a:srgbClr val="595959"/>
                </a:solidFill>
              </a:rPr>
              <a:t> do tratamento anterior, foram solicitadas imagens de receitas e medicamentos pelo mesmo aplicativo utilizado no contato inicial.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Ao final, houve orientações, ajuste de conduta medicamentosa e sugestão de seguimento na rede de atenção psicossocial, com registro posterior em prontuário eletrônico.</a:t>
            </a:r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336949" y="572075"/>
            <a:ext cx="720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688A26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DESENVOLVIMENTO DO ATENDIMENTO</a:t>
            </a:r>
            <a:endParaRPr b="1" i="0" sz="2300" u="none" cap="none" strike="noStrike">
              <a:solidFill>
                <a:srgbClr val="23302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idx="4294967295" type="body"/>
          </p:nvPr>
        </p:nvSpPr>
        <p:spPr>
          <a:xfrm>
            <a:off x="714512" y="1886031"/>
            <a:ext cx="7515453" cy="276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229496" lvl="0" marL="2294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 sz="1600">
                <a:solidFill>
                  <a:srgbClr val="595959"/>
                </a:solidFill>
              </a:rPr>
              <a:t>Como esse caso pode ser analisado no campo da Saúde Digital?</a:t>
            </a:r>
            <a:endParaRPr/>
          </a:p>
          <a:p>
            <a:pPr indent="-229496" lvl="0" marL="229496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-304796" lvl="0" marL="4572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Houve condições adequadas de privacidade e confidencialidade?</a:t>
            </a:r>
            <a:endParaRPr/>
          </a:p>
          <a:p>
            <a:pPr indent="-304796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O meio tecnológico adotado era compatível com a complexidade da demanda?</a:t>
            </a:r>
            <a:endParaRPr/>
          </a:p>
          <a:p>
            <a:pPr indent="-304796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Como deveriam ocorrer o consentimento informado, o registro assistencial, a segurança da informação e continuidade do cuidado?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336943" y="572075"/>
            <a:ext cx="839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688A26"/>
                </a:solidFill>
              </a:rPr>
              <a:t>3</a:t>
            </a:r>
            <a:r>
              <a:rPr b="1" i="0" lang="pt-BR" sz="3200" u="none" cap="none" strike="noStrike">
                <a:solidFill>
                  <a:srgbClr val="688A2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EIXOS DE DISCUSSÃO</a:t>
            </a:r>
            <a:endParaRPr b="1" i="0" sz="2300" u="none" cap="none" strike="noStrike">
              <a:solidFill>
                <a:srgbClr val="23302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idx="4294967295" type="body"/>
          </p:nvPr>
        </p:nvSpPr>
        <p:spPr>
          <a:xfrm>
            <a:off x="735294" y="1646991"/>
            <a:ext cx="7515453" cy="276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229496" lvl="0" marL="2294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 sz="1600">
                <a:solidFill>
                  <a:srgbClr val="595959"/>
                </a:solidFill>
              </a:rPr>
              <a:t>Aspectos observáveis no caso: </a:t>
            </a:r>
            <a:endParaRPr/>
          </a:p>
          <a:p>
            <a:pPr indent="-229496" lvl="0" marL="229496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-304796" lvl="0" marL="45720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Canal utilizado para iniciar e manter o atendimento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A</a:t>
            </a:r>
            <a:r>
              <a:rPr lang="pt-BR" sz="1600">
                <a:solidFill>
                  <a:srgbClr val="595959"/>
                </a:solidFill>
              </a:rPr>
              <a:t>mbiente em que a consulta foi realizada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Q</a:t>
            </a:r>
            <a:r>
              <a:rPr lang="pt-BR" sz="1600">
                <a:solidFill>
                  <a:srgbClr val="595959"/>
                </a:solidFill>
              </a:rPr>
              <a:t>ualidade e estabilidade da comunicação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T</a:t>
            </a:r>
            <a:r>
              <a:rPr lang="pt-BR" sz="1600">
                <a:solidFill>
                  <a:srgbClr val="595959"/>
                </a:solidFill>
              </a:rPr>
              <a:t>roca de imagens e dados clínicos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R</a:t>
            </a:r>
            <a:r>
              <a:rPr lang="pt-BR" sz="1600">
                <a:solidFill>
                  <a:srgbClr val="595959"/>
                </a:solidFill>
              </a:rPr>
              <a:t>egistro do atendimento e continuidade do cuidado</a:t>
            </a:r>
            <a:endParaRPr/>
          </a:p>
          <a:p>
            <a:pPr indent="-304796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◼"/>
            </a:pPr>
            <a:r>
              <a:rPr lang="pt-BR" sz="1600">
                <a:solidFill>
                  <a:srgbClr val="595959"/>
                </a:solidFill>
              </a:rPr>
              <a:t>L</a:t>
            </a:r>
            <a:r>
              <a:rPr lang="pt-BR" sz="1600">
                <a:solidFill>
                  <a:srgbClr val="595959"/>
                </a:solidFill>
              </a:rPr>
              <a:t>imites da atua</a:t>
            </a:r>
            <a:r>
              <a:rPr lang="pt-BR" sz="1600">
                <a:solidFill>
                  <a:srgbClr val="595959"/>
                </a:solidFill>
              </a:rPr>
              <a:t>ção</a:t>
            </a:r>
            <a:r>
              <a:rPr lang="pt-BR" sz="1600">
                <a:solidFill>
                  <a:srgbClr val="595959"/>
                </a:solidFill>
              </a:rPr>
              <a:t> profissional em teleatendimento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36945" y="572075"/>
            <a:ext cx="922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688A26"/>
                </a:solidFill>
              </a:rPr>
              <a:t>4</a:t>
            </a:r>
            <a:r>
              <a:rPr b="1" i="0" lang="pt-BR" sz="3200" u="none" cap="none" strike="noStrike">
                <a:solidFill>
                  <a:srgbClr val="688A2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PONTOS DE ATENÇÃO PARA ANÁLISE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idx="4294967295" type="body"/>
          </p:nvPr>
        </p:nvSpPr>
        <p:spPr>
          <a:xfrm>
            <a:off x="714512" y="2057400"/>
            <a:ext cx="7515453" cy="22058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229496" lvl="0" marL="2294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 sz="1600">
                <a:solidFill>
                  <a:srgbClr val="595959"/>
                </a:solidFill>
              </a:rPr>
              <a:t>O caso ilustra como decisões aparentemente práticas e acessíveis no teleatendimento podem gerar questões relevantes de ordem ética, técnica, legal e assistencial.</a:t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336959" y="572083"/>
            <a:ext cx="459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688A26"/>
                </a:solidFill>
              </a:rPr>
              <a:t>5</a:t>
            </a:r>
            <a:r>
              <a:rPr b="1" i="0" lang="pt-BR" sz="3200" u="none" cap="none" strike="noStrike">
                <a:solidFill>
                  <a:srgbClr val="688A2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FECHAMENTO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4294967295" type="body"/>
          </p:nvPr>
        </p:nvSpPr>
        <p:spPr>
          <a:xfrm>
            <a:off x="254250" y="1098825"/>
            <a:ext cx="8512800" cy="4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0746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2"/>
              <a:buChar char="◼"/>
            </a:pPr>
            <a:r>
              <a:rPr b="1" lang="pt-BR"/>
              <a:t>Resolução CFM nº 2.314/2022 - Telemedicina</a:t>
            </a:r>
            <a:endParaRPr b="1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50"/>
              <a:t>A resolução exige que a telemedicina se realize em ambiente controlado, com plataformas que assegurem sigilo, integridade dos dados, rastreabilidade e guarda documental adequada. Determina ainda consentimento livre e esclarecido específico para o atendimento remoto, registrado de forma verificável</a:t>
            </a:r>
            <a:endParaRPr sz="1250"/>
          </a:p>
          <a:p>
            <a:pPr indent="-30746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2"/>
              <a:buChar char="◼"/>
            </a:pPr>
            <a:r>
              <a:rPr b="1" lang="pt-BR"/>
              <a:t>Lei nº 13.709/2018  - LGPD</a:t>
            </a:r>
            <a:endParaRPr b="1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50"/>
              <a:t>O envio de imagens de receitas e medicamentos por aplicativo de mensageria pessoal transfere dados sensíveis de saúde para servidores de terceiros, sem base legal específica, sem registro de consentimento para esse tratamento e sem qualquer governança institucional sobre armazenamento, acesso ou descarte.</a:t>
            </a:r>
            <a:endParaRPr sz="1250"/>
          </a:p>
          <a:p>
            <a:pPr indent="-30746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2"/>
              <a:buChar char="◼"/>
            </a:pPr>
            <a:r>
              <a:rPr b="1" lang="pt-BR"/>
              <a:t>Lei nº 14.510/2022 - Lei da Telessaúde</a:t>
            </a:r>
            <a:endParaRPr b="1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50"/>
              <a:t>A teleconsulta realizada em aplicativo de mensagens pessoal, com instabilidade de conexão, sem ambiente reservado e sem mecanismo formal de consentimento, não atende ao patamar de estruturação que a lei pressupõe ao institucionalizar a telessaúde como prática regular do SUS, e não como improviso emergencial.</a:t>
            </a:r>
            <a:endParaRPr sz="1250"/>
          </a:p>
        </p:txBody>
      </p:sp>
      <p:sp>
        <p:nvSpPr>
          <p:cNvPr id="199" name="Google Shape;199;p27"/>
          <p:cNvSpPr txBox="1"/>
          <p:nvPr/>
        </p:nvSpPr>
        <p:spPr>
          <a:xfrm>
            <a:off x="376943" y="572075"/>
            <a:ext cx="839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="1" lang="pt-BR" sz="2300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mbasamento Ético / legal</a:t>
            </a:r>
            <a:endParaRPr b="1" i="0" sz="2300" u="none" cap="none" strike="noStrike">
              <a:solidFill>
                <a:srgbClr val="23302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idx="4294967295" type="body"/>
          </p:nvPr>
        </p:nvSpPr>
        <p:spPr>
          <a:xfrm>
            <a:off x="233075" y="1018475"/>
            <a:ext cx="8567100" cy="4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0746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2"/>
              <a:buChar char="◼"/>
            </a:pPr>
            <a:r>
              <a:rPr b="1" lang="pt-BR"/>
              <a:t>Lei nº 14.534/2023 - CPF como identificador único</a:t>
            </a:r>
            <a:endParaRPr b="1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50"/>
              <a:t>Quando o atendimento ocorre por canal informal, sem integração com sistemas como a RNDS ou o Conecte SUS, a identificação inequívoca da paciente e a vinculação do atendimento ao seu histórico unificado ficam comprometidas.</a:t>
            </a:r>
            <a:endParaRPr sz="1250"/>
          </a:p>
          <a:p>
            <a:pPr indent="-30746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2"/>
              <a:buChar char="◼"/>
            </a:pPr>
            <a:r>
              <a:rPr b="1" lang="pt-BR"/>
              <a:t>Lei nº 15.378/2026 - Estatuto dos Direitos do Paciente</a:t>
            </a:r>
            <a:endParaRPr b="1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50"/>
              <a:t>O Estatuto institui direitos como privacidade no atendimento, informação clara sobre o tratamento, consentimento livre e esclarecido, acesso ao próprio prontuário e continuidade do cuidado. No caso descrito, a paciente foi atendida sem privacidade física, sem consentimento formalizado para o teleatendimento e para o tratamento de seus dados, sem garantia de que o registro seria fidedigno e acessível, e com um encaminhamento à Rede de Atenção Psicossocial (RAPS) que, embora pertinente, não se materializou como fluxo estruturado de continuidade.</a:t>
            </a:r>
            <a:endParaRPr sz="1250"/>
          </a:p>
          <a:p>
            <a:pPr indent="-30746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2"/>
              <a:buChar char="◼"/>
            </a:pPr>
            <a:r>
              <a:rPr b="1" lang="pt-BR"/>
              <a:t>Lei nº 13.787/2018 - Prontuário Eletrônico</a:t>
            </a:r>
            <a:endParaRPr b="1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/>
              <a:t>A lei disciplina a digitalização, guarda e manuseio de prontuários em sistemas informatizados, pressupondo integridade, autenticidade e confidencialidade dos registros.</a:t>
            </a:r>
            <a:endParaRPr sz="1250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336943" y="572075"/>
            <a:ext cx="839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8A26"/>
              </a:buClr>
              <a:buSzPts val="3200"/>
              <a:buFont typeface="Arial"/>
              <a:buNone/>
            </a:pPr>
            <a:r>
              <a:rPr b="1" i="0" lang="pt-BR" sz="2300" u="none" cap="none" strike="noStrike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="1" lang="pt-BR" sz="2300">
                <a:solidFill>
                  <a:srgbClr val="233028"/>
                </a:solidFill>
                <a:latin typeface="Gill Sans"/>
                <a:ea typeface="Gill Sans"/>
                <a:cs typeface="Gill Sans"/>
                <a:sym typeface="Gill Sans"/>
              </a:rPr>
              <a:t>mbasamento Ético / legal</a:t>
            </a:r>
            <a:endParaRPr b="1" i="0" sz="2300" u="none" cap="none" strike="noStrike">
              <a:solidFill>
                <a:srgbClr val="23302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o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