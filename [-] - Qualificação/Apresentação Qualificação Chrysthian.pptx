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5" r:id="rId2"/>
    <p:sldMasterId id="2147483678" r:id="rId3"/>
    <p:sldMasterId id="2147483684" r:id="rId4"/>
  </p:sldMasterIdLst>
  <p:notesMasterIdLst>
    <p:notesMasterId r:id="rId19"/>
  </p:notesMasterIdLst>
  <p:sldIdLst>
    <p:sldId id="256" r:id="rId5"/>
    <p:sldId id="258" r:id="rId6"/>
    <p:sldId id="276" r:id="rId7"/>
    <p:sldId id="277" r:id="rId8"/>
    <p:sldId id="278" r:id="rId9"/>
    <p:sldId id="285" r:id="rId10"/>
    <p:sldId id="282" r:id="rId11"/>
    <p:sldId id="287" r:id="rId12"/>
    <p:sldId id="283" r:id="rId13"/>
    <p:sldId id="279" r:id="rId14"/>
    <p:sldId id="280" r:id="rId15"/>
    <p:sldId id="290" r:id="rId16"/>
    <p:sldId id="281" r:id="rId17"/>
    <p:sldId id="289" r:id="rId18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9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98697-069B-4027-B735-EB22068E6AC2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A55C6-0D80-463C-8FD9-BE9001F2B2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2628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8">
            <a:extLst>
              <a:ext uri="{FF2B5EF4-FFF2-40B4-BE49-F238E27FC236}">
                <a16:creationId xmlns:a16="http://schemas.microsoft.com/office/drawing/2014/main" id="{A5A59EEA-B444-ECD6-2B3E-E46D181C2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hape 89">
            <a:extLst>
              <a:ext uri="{FF2B5EF4-FFF2-40B4-BE49-F238E27FC236}">
                <a16:creationId xmlns:a16="http://schemas.microsoft.com/office/drawing/2014/main" id="{FAC313B1-73FE-8730-7A7D-1F10039FC1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Divide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FCB207F-6ACF-4833-BE92-75C7DF70033A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Layout13-cust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1-Layout13-cust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">
            <a:extLst>
              <a:ext uri="{FF2B5EF4-FFF2-40B4-BE49-F238E27FC236}">
                <a16:creationId xmlns:a16="http://schemas.microsoft.com/office/drawing/2014/main" id="{FBF55B6A-137D-AF39-80D4-5057B2ECA51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8922" y="2387251"/>
            <a:ext cx="3636596" cy="2258997"/>
          </a:xfrm>
        </p:spPr>
        <p:txBody>
          <a:bodyPr lIns="91421" tIns="91421" rIns="91421" bIns="91421" anchor="t"/>
          <a:lstStyle>
            <a:lvl1pPr>
              <a:defRPr sz="3000" b="1">
                <a:solidFill>
                  <a:srgbClr val="F67031"/>
                </a:solidFill>
              </a:defRPr>
            </a:lvl1pPr>
          </a:lstStyle>
          <a:p>
            <a:pPr lvl="0"/>
            <a:endParaRPr lang="pt-BR"/>
          </a:p>
        </p:txBody>
      </p:sp>
      <p:pic>
        <p:nvPicPr>
          <p:cNvPr id="3" name="Picture 11" descr="logo_uerj_cor.png">
            <a:extLst>
              <a:ext uri="{FF2B5EF4-FFF2-40B4-BE49-F238E27FC236}">
                <a16:creationId xmlns:a16="http://schemas.microsoft.com/office/drawing/2014/main" id="{BA430183-E31D-2138-2DAB-523550E8A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3" y="555571"/>
            <a:ext cx="495083" cy="5448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m 2" descr="Logotipo&#10;&#10;Descrição gerada automaticamente">
            <a:extLst>
              <a:ext uri="{FF2B5EF4-FFF2-40B4-BE49-F238E27FC236}">
                <a16:creationId xmlns:a16="http://schemas.microsoft.com/office/drawing/2014/main" id="{67C05E8B-52E4-3CF7-C7BF-E324EF7F7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85" y="532427"/>
            <a:ext cx="456907" cy="562200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F498011D-9275-524F-E589-8EEFF27E9166}"/>
              </a:ext>
            </a:extLst>
          </p:cNvPr>
          <p:cNvCxnSpPr/>
          <p:nvPr/>
        </p:nvCxnSpPr>
        <p:spPr>
          <a:xfrm rot="5400013">
            <a:off x="658203" y="853354"/>
            <a:ext cx="592476" cy="0"/>
          </a:xfrm>
          <a:prstGeom prst="straightConnector1">
            <a:avLst/>
          </a:prstGeom>
          <a:noFill/>
          <a:ln w="22229" cap="rnd">
            <a:solidFill>
              <a:srgbClr val="C2C2C2"/>
            </a:solidFill>
            <a:custDash>
              <a:ds d="600000" sp="0"/>
            </a:custDash>
            <a:miter/>
          </a:ln>
        </p:spPr>
      </p:cxnSp>
      <p:pic>
        <p:nvPicPr>
          <p:cNvPr id="6" name="Imagem 4" descr="Texto&#10;&#10;Descrição gerada automaticamente com confiança baixa">
            <a:extLst>
              <a:ext uri="{FF2B5EF4-FFF2-40B4-BE49-F238E27FC236}">
                <a16:creationId xmlns:a16="http://schemas.microsoft.com/office/drawing/2014/main" id="{0ADEB577-CAFD-91F1-5D58-09CAC7771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436" y="362833"/>
            <a:ext cx="964371" cy="89880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1123352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Layout14-cust-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1-Layout14-cust-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Layout16-cust-Title-+-2-columns-with-intro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Master1-Layout14-cust-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3888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heme" Target="../theme/theme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35960" y="528840"/>
            <a:ext cx="8272080" cy="8920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t-BR" sz="2100" b="0" strike="noStrike" cap="all" spc="-1">
                <a:solidFill>
                  <a:srgbClr val="FFFFFF"/>
                </a:solidFill>
                <a:latin typeface="Gill Sans MT"/>
              </a:rPr>
              <a:t>Clique para editar o título Mestre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35960" y="1752120"/>
            <a:ext cx="8272080" cy="2642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229320" indent="-229320">
              <a:lnSpc>
                <a:spcPct val="100000"/>
              </a:lnSpc>
              <a:spcBef>
                <a:spcPts val="300"/>
              </a:spcBef>
              <a:spcAft>
                <a:spcPts val="4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350" b="0" strike="noStrike" spc="-1">
                <a:solidFill>
                  <a:srgbClr val="455F51"/>
                </a:solidFill>
                <a:latin typeface="Gill Sans MT"/>
              </a:rPr>
              <a:t>Clique para editar os estilos de texto Mestres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72320" lvl="1" indent="-229320">
              <a:lnSpc>
                <a:spcPct val="100000"/>
              </a:lnSpc>
              <a:spcBef>
                <a:spcPts val="300"/>
              </a:spcBef>
              <a:spcAft>
                <a:spcPts val="45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200" b="0" strike="noStrike" spc="-1">
                <a:solidFill>
                  <a:srgbClr val="455F51"/>
                </a:solidFill>
                <a:latin typeface="Gill Sans MT"/>
              </a:rPr>
              <a:t>Segundo nível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675000" lvl="2" indent="-202680">
              <a:lnSpc>
                <a:spcPct val="100000"/>
              </a:lnSpc>
              <a:spcBef>
                <a:spcPts val="300"/>
              </a:spcBef>
              <a:spcAft>
                <a:spcPts val="4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050" b="0" strike="noStrike" spc="-1">
                <a:solidFill>
                  <a:srgbClr val="455F51"/>
                </a:solidFill>
                <a:latin typeface="Gill Sans MT"/>
              </a:rPr>
              <a:t>Terceiro nível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marL="931320" lvl="3" indent="-175680">
              <a:lnSpc>
                <a:spcPct val="100000"/>
              </a:lnSpc>
              <a:spcBef>
                <a:spcPts val="201"/>
              </a:spcBef>
              <a:spcAft>
                <a:spcPts val="45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900" b="0" strike="noStrike" spc="-1">
                <a:solidFill>
                  <a:srgbClr val="455F51"/>
                </a:solidFill>
                <a:latin typeface="Gill Sans MT"/>
              </a:rPr>
              <a:t>Quarto nível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1201680" lvl="4" indent="-175680">
              <a:lnSpc>
                <a:spcPct val="100000"/>
              </a:lnSpc>
              <a:spcBef>
                <a:spcPts val="201"/>
              </a:spcBef>
              <a:spcAft>
                <a:spcPts val="4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900" b="0" strike="noStrike" spc="-1">
                <a:solidFill>
                  <a:srgbClr val="455F51"/>
                </a:solidFill>
                <a:latin typeface="Gill Sans MT"/>
              </a:rPr>
              <a:t>Quinto nível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704560" y="4467240"/>
            <a:ext cx="2133720" cy="2739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670" b="0" strike="noStrike" spc="-1">
                <a:solidFill>
                  <a:srgbClr val="8AB833"/>
                </a:solidFill>
                <a:latin typeface="Gill Sans MT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7AD82B-ECBF-499D-8804-0D206D891B6B}" type="datetime">
              <a:rPr lang="en-US" sz="670" b="0" strike="noStrike" spc="-1">
                <a:solidFill>
                  <a:srgbClr val="8AB833"/>
                </a:solidFill>
                <a:latin typeface="Gill Sans MT"/>
              </a:rPr>
              <a:t>4/12/2026</a:t>
            </a:fld>
            <a:endParaRPr lang="en-US" sz="6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35960" y="4464000"/>
            <a:ext cx="5187960" cy="2739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918560" y="4467240"/>
            <a:ext cx="789480" cy="2739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0" strike="noStrike" spc="-1">
                <a:solidFill>
                  <a:srgbClr val="CCCCCC"/>
                </a:solidFill>
                <a:latin typeface="Nunito Sans"/>
                <a:ea typeface="Nunito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665AD9-E53B-4FD0-A8DB-F00F25A1C142}" type="slidenum">
              <a:rPr lang="en-US" sz="1000" b="0" strike="noStrike" spc="-1">
                <a:solidFill>
                  <a:srgbClr val="CCCCCC"/>
                </a:solidFill>
                <a:latin typeface="Nunito Sans"/>
                <a:ea typeface="Nunito Sans"/>
              </a:rPr>
              <a:t>‹nº›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277200" y="284040"/>
            <a:ext cx="1824840" cy="3678120"/>
          </a:xfrm>
          <a:prstGeom prst="rect">
            <a:avLst/>
          </a:prstGeom>
          <a:noFill/>
          <a:ln w="1908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Picture 11" descr="logo_uerj_cor.png"/>
          <p:cNvPicPr/>
          <p:nvPr/>
        </p:nvPicPr>
        <p:blipFill>
          <a:blip r:embed="rId5"/>
          <a:stretch/>
        </p:blipFill>
        <p:spPr>
          <a:xfrm>
            <a:off x="7333920" y="534240"/>
            <a:ext cx="384120" cy="423000"/>
          </a:xfrm>
          <a:prstGeom prst="rect">
            <a:avLst/>
          </a:prstGeom>
          <a:ln w="19080">
            <a:noFill/>
          </a:ln>
        </p:spPr>
      </p:pic>
      <p:pic>
        <p:nvPicPr>
          <p:cNvPr id="137" name="Imagem 9" descr="Logotipo  Descrição gerada automaticamente"/>
          <p:cNvPicPr/>
          <p:nvPr/>
        </p:nvPicPr>
        <p:blipFill>
          <a:blip r:embed="rId6"/>
          <a:stretch/>
        </p:blipFill>
        <p:spPr>
          <a:xfrm>
            <a:off x="7939080" y="524520"/>
            <a:ext cx="354600" cy="436320"/>
          </a:xfrm>
          <a:prstGeom prst="rect">
            <a:avLst/>
          </a:prstGeom>
          <a:ln w="19080">
            <a:noFill/>
          </a:ln>
        </p:spPr>
      </p:pic>
      <p:cxnSp>
        <p:nvCxnSpPr>
          <p:cNvPr id="138" name="Straight Connector 13"/>
          <p:cNvCxnSpPr/>
          <p:nvPr/>
        </p:nvCxnSpPr>
        <p:spPr>
          <a:xfrm>
            <a:off x="7856280" y="570600"/>
            <a:ext cx="360" cy="421560"/>
          </a:xfrm>
          <a:prstGeom prst="straightConnector1">
            <a:avLst/>
          </a:prstGeom>
          <a:ln w="22320" cap="rnd">
            <a:solidFill>
              <a:srgbClr val="C2C2C2"/>
            </a:solidFill>
            <a:custDash>
              <a:ds d="498387" sp="1000"/>
            </a:custDash>
            <a:miter/>
          </a:ln>
        </p:spPr>
      </p:cxnSp>
      <p:pic>
        <p:nvPicPr>
          <p:cNvPr id="139" name="Imagem 11" descr="Texto  Descrição gerada automaticamente com confiança baixa"/>
          <p:cNvPicPr/>
          <p:nvPr/>
        </p:nvPicPr>
        <p:blipFill>
          <a:blip r:embed="rId7"/>
          <a:stretch/>
        </p:blipFill>
        <p:spPr>
          <a:xfrm>
            <a:off x="8215920" y="393840"/>
            <a:ext cx="748440" cy="697680"/>
          </a:xfrm>
          <a:prstGeom prst="rect">
            <a:avLst/>
          </a:prstGeom>
          <a:ln w="19080">
            <a:noFill/>
          </a:ln>
        </p:spPr>
      </p:pic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9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7" name="Picture 11" descr="logo_uerj_cor.png"/>
          <p:cNvPicPr/>
          <p:nvPr/>
        </p:nvPicPr>
        <p:blipFill>
          <a:blip r:embed="rId4"/>
          <a:stretch/>
        </p:blipFill>
        <p:spPr>
          <a:xfrm>
            <a:off x="7333920" y="534240"/>
            <a:ext cx="384120" cy="423000"/>
          </a:xfrm>
          <a:prstGeom prst="rect">
            <a:avLst/>
          </a:prstGeom>
          <a:ln w="19080">
            <a:noFill/>
          </a:ln>
        </p:spPr>
      </p:pic>
      <p:pic>
        <p:nvPicPr>
          <p:cNvPr id="148" name="Imagem 6" descr="Logotipo  Descrição gerada automaticamente"/>
          <p:cNvPicPr/>
          <p:nvPr/>
        </p:nvPicPr>
        <p:blipFill>
          <a:blip r:embed="rId5"/>
          <a:stretch/>
        </p:blipFill>
        <p:spPr>
          <a:xfrm>
            <a:off x="7939080" y="524520"/>
            <a:ext cx="354600" cy="436320"/>
          </a:xfrm>
          <a:prstGeom prst="rect">
            <a:avLst/>
          </a:prstGeom>
          <a:ln w="19080">
            <a:noFill/>
          </a:ln>
        </p:spPr>
      </p:pic>
      <p:cxnSp>
        <p:nvCxnSpPr>
          <p:cNvPr id="149" name="Straight Connector 13"/>
          <p:cNvCxnSpPr/>
          <p:nvPr/>
        </p:nvCxnSpPr>
        <p:spPr>
          <a:xfrm>
            <a:off x="7856280" y="570600"/>
            <a:ext cx="360" cy="421560"/>
          </a:xfrm>
          <a:prstGeom prst="straightConnector1">
            <a:avLst/>
          </a:prstGeom>
          <a:ln w="22320" cap="rnd">
            <a:solidFill>
              <a:srgbClr val="C2C2C2"/>
            </a:solidFill>
            <a:custDash>
              <a:ds d="498387" sp="1000"/>
            </a:custDash>
            <a:miter/>
          </a:ln>
        </p:spPr>
      </p:cxnSp>
      <p:pic>
        <p:nvPicPr>
          <p:cNvPr id="150" name="Imagem 9" descr="Texto  Descrição gerada automaticamente com confiança baixa"/>
          <p:cNvPicPr/>
          <p:nvPr/>
        </p:nvPicPr>
        <p:blipFill>
          <a:blip r:embed="rId6"/>
          <a:stretch/>
        </p:blipFill>
        <p:spPr>
          <a:xfrm>
            <a:off x="8215920" y="393840"/>
            <a:ext cx="748440" cy="697680"/>
          </a:xfrm>
          <a:prstGeom prst="rect">
            <a:avLst/>
          </a:prstGeom>
          <a:ln w="19080">
            <a:noFill/>
          </a:ln>
        </p:spPr>
      </p:pic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24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Picture 3" descr="uerj-01.png"/>
          <p:cNvPicPr/>
          <p:nvPr/>
        </p:nvPicPr>
        <p:blipFill>
          <a:blip r:embed="rId4"/>
          <a:stretch/>
        </p:blipFill>
        <p:spPr>
          <a:xfrm>
            <a:off x="8246160" y="3735000"/>
            <a:ext cx="938880" cy="663120"/>
          </a:xfrm>
          <a:prstGeom prst="rect">
            <a:avLst/>
          </a:prstGeom>
          <a:ln w="19080">
            <a:noFill/>
          </a:ln>
        </p:spPr>
      </p:pic>
      <p:pic>
        <p:nvPicPr>
          <p:cNvPr id="177" name="Imagem 2" descr="Texto  Descrição gerada automaticamente com confiança média"/>
          <p:cNvPicPr/>
          <p:nvPr/>
        </p:nvPicPr>
        <p:blipFill>
          <a:blip r:embed="rId5"/>
          <a:stretch/>
        </p:blipFill>
        <p:spPr>
          <a:xfrm>
            <a:off x="8380800" y="4397760"/>
            <a:ext cx="690480" cy="682200"/>
          </a:xfrm>
          <a:prstGeom prst="rect">
            <a:avLst/>
          </a:prstGeom>
          <a:ln w="19080">
            <a:noFill/>
          </a:ln>
        </p:spPr>
      </p:pic>
      <p:pic>
        <p:nvPicPr>
          <p:cNvPr id="178" name="Picture 11" descr="logo_uerj_cor.png"/>
          <p:cNvPicPr/>
          <p:nvPr/>
        </p:nvPicPr>
        <p:blipFill>
          <a:blip r:embed="rId6"/>
          <a:stretch/>
        </p:blipFill>
        <p:spPr>
          <a:xfrm>
            <a:off x="7333920" y="534240"/>
            <a:ext cx="384120" cy="423000"/>
          </a:xfrm>
          <a:prstGeom prst="rect">
            <a:avLst/>
          </a:prstGeom>
          <a:ln w="19080">
            <a:noFill/>
          </a:ln>
        </p:spPr>
      </p:pic>
      <p:pic>
        <p:nvPicPr>
          <p:cNvPr id="179" name="Imagem 8" descr="Logotipo  Descrição gerada automaticamente"/>
          <p:cNvPicPr/>
          <p:nvPr/>
        </p:nvPicPr>
        <p:blipFill>
          <a:blip r:embed="rId7"/>
          <a:stretch/>
        </p:blipFill>
        <p:spPr>
          <a:xfrm>
            <a:off x="7939080" y="524520"/>
            <a:ext cx="354600" cy="436320"/>
          </a:xfrm>
          <a:prstGeom prst="rect">
            <a:avLst/>
          </a:prstGeom>
          <a:ln w="19080">
            <a:noFill/>
          </a:ln>
        </p:spPr>
      </p:pic>
      <p:cxnSp>
        <p:nvCxnSpPr>
          <p:cNvPr id="180" name="Straight Connector 13"/>
          <p:cNvCxnSpPr/>
          <p:nvPr/>
        </p:nvCxnSpPr>
        <p:spPr>
          <a:xfrm>
            <a:off x="7856280" y="570600"/>
            <a:ext cx="360" cy="421560"/>
          </a:xfrm>
          <a:prstGeom prst="straightConnector1">
            <a:avLst/>
          </a:prstGeom>
          <a:ln w="22320" cap="rnd">
            <a:solidFill>
              <a:srgbClr val="C2C2C2"/>
            </a:solidFill>
            <a:custDash>
              <a:ds d="498387" sp="1000"/>
            </a:custDash>
            <a:miter/>
          </a:ln>
        </p:spPr>
      </p:cxnSp>
      <p:pic>
        <p:nvPicPr>
          <p:cNvPr id="181" name="Imagem 12" descr="Texto  Descrição gerada automaticamente com confiança baixa"/>
          <p:cNvPicPr/>
          <p:nvPr/>
        </p:nvPicPr>
        <p:blipFill>
          <a:blip r:embed="rId8"/>
          <a:stretch/>
        </p:blipFill>
        <p:spPr>
          <a:xfrm>
            <a:off x="8215920" y="393840"/>
            <a:ext cx="748440" cy="697680"/>
          </a:xfrm>
          <a:prstGeom prst="rect">
            <a:avLst/>
          </a:prstGeom>
          <a:ln w="19080">
            <a:noFill/>
          </a:ln>
        </p:spPr>
      </p:pic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1">
            <a:extLst>
              <a:ext uri="{FF2B5EF4-FFF2-40B4-BE49-F238E27FC236}">
                <a16:creationId xmlns:a16="http://schemas.microsoft.com/office/drawing/2014/main" id="{BBECEEAB-4274-8939-F6E6-DA409B18444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4344" y="1228725"/>
            <a:ext cx="8586787" cy="1907381"/>
          </a:xfrm>
        </p:spPr>
        <p:txBody>
          <a:bodyPr anchorCtr="1">
            <a:noAutofit/>
          </a:bodyPr>
          <a:lstStyle/>
          <a:p>
            <a:pPr lvl="0" algn="ctr"/>
            <a:r>
              <a:rPr lang="pt-BR" sz="2400" dirty="0">
                <a:solidFill>
                  <a:srgbClr val="233028"/>
                </a:solidFill>
              </a:rPr>
              <a:t>Arquitetura de baixo custo para monitoramento preventivo do pé diabético: </a:t>
            </a:r>
            <a:r>
              <a:rPr lang="pt-BR" sz="2200" dirty="0">
                <a:solidFill>
                  <a:srgbClr val="233028"/>
                </a:solidFill>
              </a:rPr>
              <a:t>proposta de sistema com sensores e modelo preditivo baseado em Random Forest</a:t>
            </a:r>
            <a:endParaRPr lang="en-US" sz="2200" dirty="0">
              <a:solidFill>
                <a:srgbClr val="233028"/>
              </a:solidFill>
            </a:endParaRPr>
          </a:p>
        </p:txBody>
      </p:sp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387E3442-4E3C-4C18-81A0-6163D77BB7D3}"/>
              </a:ext>
            </a:extLst>
          </p:cNvPr>
          <p:cNvCxnSpPr/>
          <p:nvPr/>
        </p:nvCxnSpPr>
        <p:spPr>
          <a:xfrm flipV="1">
            <a:off x="2022040" y="2798539"/>
            <a:ext cx="5112684" cy="17849"/>
          </a:xfrm>
          <a:prstGeom prst="straightConnector1">
            <a:avLst/>
          </a:prstGeom>
          <a:noFill/>
          <a:ln w="22229" cap="rnd">
            <a:solidFill>
              <a:srgbClr val="C2C2C2"/>
            </a:solidFill>
            <a:custDash>
              <a:ds d="600000" sp="0"/>
            </a:custDash>
            <a:miter/>
          </a:ln>
        </p:spPr>
      </p:cxnSp>
      <p:sp>
        <p:nvSpPr>
          <p:cNvPr id="4" name="Shape 91">
            <a:extLst>
              <a:ext uri="{FF2B5EF4-FFF2-40B4-BE49-F238E27FC236}">
                <a16:creationId xmlns:a16="http://schemas.microsoft.com/office/drawing/2014/main" id="{DE28ED32-52D5-B505-026F-B3D518D5FD0D}"/>
              </a:ext>
            </a:extLst>
          </p:cNvPr>
          <p:cNvSpPr txBox="1"/>
          <p:nvPr/>
        </p:nvSpPr>
        <p:spPr>
          <a:xfrm>
            <a:off x="2814844" y="2898099"/>
            <a:ext cx="3617238" cy="4992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600" b="1" u="none" strike="noStrike" kern="1200" cap="none" spc="0" baseline="0" dirty="0">
                <a:solidFill>
                  <a:srgbClr val="1B1810"/>
                </a:solidFill>
                <a:uFillTx/>
                <a:latin typeface="Nunito Sans"/>
                <a:ea typeface="Nunito Sans"/>
                <a:cs typeface="Nunito Sans"/>
              </a:rPr>
              <a:t>Chrysthian Chrisley</a:t>
            </a:r>
            <a:endParaRPr lang="en-US" sz="2000" b="1" u="none" strike="noStrike" kern="1200" cap="none" spc="0" baseline="0" dirty="0">
              <a:solidFill>
                <a:srgbClr val="1B1810"/>
              </a:solidFill>
              <a:uFillTx/>
              <a:latin typeface="Georgia"/>
              <a:ea typeface="Nunito Sans"/>
              <a:cs typeface="Georgia"/>
            </a:endParaRP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42E61774-7FE4-2D09-B5ED-E398D69B1452}"/>
              </a:ext>
            </a:extLst>
          </p:cNvPr>
          <p:cNvSpPr/>
          <p:nvPr/>
        </p:nvSpPr>
        <p:spPr>
          <a:xfrm>
            <a:off x="2814843" y="3517769"/>
            <a:ext cx="3825703" cy="3039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 defTabSz="45720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000" b="0" i="0" u="none" strike="noStrike" kern="1200" cap="none" spc="-30" baseline="0" dirty="0">
                <a:solidFill>
                  <a:srgbClr val="000000"/>
                </a:solidFill>
                <a:uFillTx/>
                <a:latin typeface="Nunito sans"/>
                <a:cs typeface="Nunito sans"/>
              </a:rPr>
              <a:t>Orientador: </a:t>
            </a:r>
            <a:r>
              <a:rPr lang="pt-BR" sz="1000" b="1" i="0" u="none" strike="noStrike" kern="1200" cap="none" spc="-30" baseline="0" dirty="0">
                <a:solidFill>
                  <a:srgbClr val="000000"/>
                </a:solidFill>
                <a:uFillTx/>
                <a:latin typeface="Nunito sans"/>
                <a:cs typeface="Nunito sans"/>
              </a:rPr>
              <a:t>Prof.</a:t>
            </a:r>
            <a:r>
              <a:rPr lang="pt-BR" sz="1000" b="1" i="0" u="none" strike="noStrike" kern="1200" cap="none" spc="-30" baseline="30000" dirty="0">
                <a:solidFill>
                  <a:srgbClr val="000000"/>
                </a:solidFill>
                <a:uFillTx/>
                <a:latin typeface="Nunito sans"/>
                <a:cs typeface="Nunito sans"/>
              </a:rPr>
              <a:t> </a:t>
            </a:r>
            <a:r>
              <a:rPr lang="pt-BR" sz="1000" b="1" spc="-30" dirty="0">
                <a:solidFill>
                  <a:srgbClr val="000000"/>
                </a:solidFill>
                <a:latin typeface="Nunito sans"/>
                <a:cs typeface="Nunito sans"/>
              </a:rPr>
              <a:t>Dra. Rosa Maria Esteves Moreira da Costa</a:t>
            </a:r>
            <a:endParaRPr lang="pt-BR" sz="1000" b="1" i="0" u="none" strike="noStrike" kern="1200" cap="none" spc="-30" baseline="0" dirty="0">
              <a:solidFill>
                <a:srgbClr val="000000"/>
              </a:solidFill>
              <a:uFillTx/>
              <a:latin typeface="Nunito sans"/>
              <a:cs typeface="Nuni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ecaoTitulo"/>
          <p:cNvSpPr txBox="1"/>
          <p:nvPr/>
        </p:nvSpPr>
        <p:spPr>
          <a:xfrm>
            <a:off x="366840" y="613800"/>
            <a:ext cx="4200000" cy="9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1. </a:t>
            </a:r>
            <a:r>
              <a:rPr lang="pt-BR" sz="2000" b="1" strike="noStrike" cap="all" spc="-1" dirty="0">
                <a:solidFill>
                  <a:srgbClr val="233028"/>
                </a:solidFill>
                <a:latin typeface="Gill Sans MT"/>
              </a:rPr>
              <a:t>Introdução</a:t>
            </a:r>
          </a:p>
        </p:txBody>
      </p:sp>
      <p:sp>
        <p:nvSpPr>
          <p:cNvPr id="301" name="TituloSlide"/>
          <p:cNvSpPr txBox="1"/>
          <p:nvPr/>
        </p:nvSpPr>
        <p:spPr>
          <a:xfrm>
            <a:off x="366840" y="1580000"/>
            <a:ext cx="8300000" cy="5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900" b="1" strike="noStrike" spc="-1">
                <a:solidFill>
                  <a:srgbClr val="233028"/>
                </a:solidFill>
                <a:latin typeface="Gill Sans MT"/>
              </a:rPr>
              <a:t>Amputações por diabetes no Brasil: uma tragédia em crescimento contínuo</a:t>
            </a:r>
          </a:p>
        </p:txBody>
      </p:sp>
      <p:sp>
        <p:nvSpPr>
          <p:cNvPr id="302" name="DestaqueBox"/>
          <p:cNvSpPr txBox="1"/>
          <p:nvPr/>
        </p:nvSpPr>
        <p:spPr>
          <a:xfrm>
            <a:off x="366840" y="2220000"/>
            <a:ext cx="2000000" cy="1100000"/>
          </a:xfrm>
          <a:prstGeom prst="rect">
            <a:avLst/>
          </a:prstGeom>
          <a:solidFill>
            <a:srgbClr val="233028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3600" b="1" strike="noStrike" spc="-1" dirty="0">
                <a:solidFill>
                  <a:srgbClr val="8AB833"/>
                </a:solidFill>
                <a:latin typeface="Gill Sans MT"/>
              </a:rPr>
              <a:t>+65%</a:t>
            </a:r>
          </a:p>
          <a:p>
            <a:pPr algn="ctr">
              <a:lnSpc>
                <a:spcPct val="100000"/>
              </a:lnSpc>
            </a:pPr>
            <a:r>
              <a:rPr lang="pt-BR" sz="1100" b="0" strike="noStrike" spc="-1" dirty="0">
                <a:solidFill>
                  <a:srgbClr val="FFFFFF"/>
                </a:solidFill>
                <a:latin typeface="Arial"/>
              </a:rPr>
              <a:t>em 10 anos</a:t>
            </a:r>
          </a:p>
        </p:txBody>
      </p:sp>
      <p:sp>
        <p:nvSpPr>
          <p:cNvPr id="504" name="FraseImpacto"/>
          <p:cNvSpPr txBox="1"/>
          <p:nvPr/>
        </p:nvSpPr>
        <p:spPr>
          <a:xfrm>
            <a:off x="366840" y="3420000"/>
            <a:ext cx="2100000" cy="12000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pt-BR" sz="1100" b="0" i="1" strike="noStrike" spc="-1" dirty="0">
                <a:solidFill>
                  <a:srgbClr val="595959"/>
                </a:solidFill>
                <a:latin typeface="Arial"/>
              </a:rPr>
              <a:t>“A maioria dessas amputações foi precedida por uma úlcera que poderia ter sido prevenida.”</a:t>
            </a:r>
          </a:p>
          <a:p>
            <a:pPr algn="ctr">
              <a:lnSpc>
                <a:spcPct val="100000"/>
              </a:lnSpc>
            </a:pPr>
            <a:r>
              <a:rPr lang="pt-BR" sz="800" b="1" strike="noStrike" spc="-1" dirty="0">
                <a:solidFill>
                  <a:srgbClr val="8AB833"/>
                </a:solidFill>
                <a:latin typeface="Arial"/>
              </a:rPr>
              <a:t>KOSAJI et al., 2025</a:t>
            </a:r>
          </a:p>
        </p:txBody>
      </p:sp>
      <p:sp>
        <p:nvSpPr>
          <p:cNvPr id="399" name="LinhaBase"/>
          <p:cNvSpPr>
            <a:spLocks noGrp="1"/>
          </p:cNvSpPr>
          <p:nvPr/>
        </p:nvSpPr>
        <p:spPr>
          <a:xfrm>
            <a:off x="2620000" y="4700000"/>
            <a:ext cx="6100000" cy="2500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0" name="Bar2012"/>
          <p:cNvSpPr>
            <a:spLocks noGrp="1"/>
          </p:cNvSpPr>
          <p:nvPr/>
        </p:nvSpPr>
        <p:spPr>
          <a:xfrm>
            <a:off x="2630000" y="3550000"/>
            <a:ext cx="400000" cy="1150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Bar2013"/>
          <p:cNvSpPr>
            <a:spLocks noGrp="1"/>
          </p:cNvSpPr>
          <p:nvPr/>
        </p:nvSpPr>
        <p:spPr>
          <a:xfrm>
            <a:off x="3180000" y="3496000"/>
            <a:ext cx="400000" cy="1204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2" name="Bar2014"/>
          <p:cNvSpPr>
            <a:spLocks noGrp="1"/>
          </p:cNvSpPr>
          <p:nvPr/>
        </p:nvSpPr>
        <p:spPr>
          <a:xfrm>
            <a:off x="3730000" y="3445000"/>
            <a:ext cx="400000" cy="1255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3" name="Bar2015"/>
          <p:cNvSpPr>
            <a:spLocks noGrp="1"/>
          </p:cNvSpPr>
          <p:nvPr/>
        </p:nvSpPr>
        <p:spPr>
          <a:xfrm>
            <a:off x="4280000" y="3372000"/>
            <a:ext cx="400000" cy="1328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4" name="Bar2016"/>
          <p:cNvSpPr>
            <a:spLocks noGrp="1"/>
          </p:cNvSpPr>
          <p:nvPr/>
        </p:nvSpPr>
        <p:spPr>
          <a:xfrm>
            <a:off x="4830000" y="3290000"/>
            <a:ext cx="400000" cy="1410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5" name="Bar2017"/>
          <p:cNvSpPr>
            <a:spLocks noGrp="1"/>
          </p:cNvSpPr>
          <p:nvPr/>
        </p:nvSpPr>
        <p:spPr>
          <a:xfrm>
            <a:off x="5380000" y="3227000"/>
            <a:ext cx="400000" cy="1473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6" name="Bar2018"/>
          <p:cNvSpPr>
            <a:spLocks noGrp="1"/>
          </p:cNvSpPr>
          <p:nvPr/>
        </p:nvSpPr>
        <p:spPr>
          <a:xfrm>
            <a:off x="5930000" y="3105000"/>
            <a:ext cx="400000" cy="1595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7" name="Bar2019"/>
          <p:cNvSpPr>
            <a:spLocks noGrp="1"/>
          </p:cNvSpPr>
          <p:nvPr/>
        </p:nvSpPr>
        <p:spPr>
          <a:xfrm>
            <a:off x="6480000" y="3047000"/>
            <a:ext cx="400000" cy="1653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8" name="Bar2020"/>
          <p:cNvSpPr>
            <a:spLocks noGrp="1"/>
          </p:cNvSpPr>
          <p:nvPr/>
        </p:nvSpPr>
        <p:spPr>
          <a:xfrm>
            <a:off x="7030000" y="3021000"/>
            <a:ext cx="400000" cy="1679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9" name="Bar2021"/>
          <p:cNvSpPr>
            <a:spLocks noGrp="1"/>
          </p:cNvSpPr>
          <p:nvPr/>
        </p:nvSpPr>
        <p:spPr>
          <a:xfrm>
            <a:off x="7580000" y="2927000"/>
            <a:ext cx="400000" cy="1773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10" name="Bar2022"/>
          <p:cNvSpPr>
            <a:spLocks noGrp="1"/>
          </p:cNvSpPr>
          <p:nvPr/>
        </p:nvSpPr>
        <p:spPr>
          <a:xfrm>
            <a:off x="8130000" y="2800000"/>
            <a:ext cx="400000" cy="19000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" name="Label2022"/>
          <p:cNvSpPr txBox="1"/>
          <p:nvPr/>
        </p:nvSpPr>
        <p:spPr>
          <a:xfrm>
            <a:off x="7980000" y="2532456"/>
            <a:ext cx="797160" cy="2855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2000" b="1" strike="noStrike" spc="-1" dirty="0">
                <a:latin typeface="Arial"/>
              </a:rPr>
              <a:t>85</a:t>
            </a:r>
          </a:p>
        </p:txBody>
      </p:sp>
      <p:sp>
        <p:nvSpPr>
          <p:cNvPr id="502" name="Label2012"/>
          <p:cNvSpPr txBox="1"/>
          <p:nvPr/>
        </p:nvSpPr>
        <p:spPr>
          <a:xfrm>
            <a:off x="2480509" y="3227000"/>
            <a:ext cx="698981" cy="335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600" b="1" strike="noStrike" spc="-1" dirty="0">
                <a:solidFill>
                  <a:srgbClr val="595959"/>
                </a:solidFill>
                <a:latin typeface="Arial"/>
              </a:rPr>
              <a:t>52</a:t>
            </a:r>
          </a:p>
        </p:txBody>
      </p:sp>
      <p:sp>
        <p:nvSpPr>
          <p:cNvPr id="500" name="LabelsAnos"/>
          <p:cNvSpPr txBox="1"/>
          <p:nvPr/>
        </p:nvSpPr>
        <p:spPr>
          <a:xfrm>
            <a:off x="2580000" y="4730000"/>
            <a:ext cx="6050000" cy="2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700" b="0" strike="noStrike" spc="-1" dirty="0">
                <a:solidFill>
                  <a:srgbClr val="595959"/>
                </a:solidFill>
                <a:latin typeface="Arial"/>
              </a:rPr>
              <a:t>2012                2013               2014              2015              2016               2017             2018               2019             2020              2021              2022</a:t>
            </a:r>
          </a:p>
        </p:txBody>
      </p:sp>
      <p:sp>
        <p:nvSpPr>
          <p:cNvPr id="503" name="Fonte"/>
          <p:cNvSpPr txBox="1"/>
          <p:nvPr/>
        </p:nvSpPr>
        <p:spPr>
          <a:xfrm>
            <a:off x="2580000" y="4930000"/>
            <a:ext cx="6100000" cy="17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800" b="0" i="1" strike="noStrike" spc="-1" dirty="0">
                <a:solidFill>
                  <a:srgbClr val="999999"/>
                </a:solidFill>
                <a:latin typeface="Arial"/>
              </a:rPr>
              <a:t>Fonte: SBACV, 2023. Amputações de membros inferiores no SUS (2012-2022).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ecaoTitulo"/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2.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Objetivo Geral</a:t>
            </a:r>
          </a:p>
        </p:txBody>
      </p:sp>
      <p:sp>
        <p:nvSpPr>
          <p:cNvPr id="229" name="ObjetivoGeral"/>
          <p:cNvSpPr txBox="1"/>
          <p:nvPr/>
        </p:nvSpPr>
        <p:spPr>
          <a:xfrm>
            <a:off x="872280" y="1812000"/>
            <a:ext cx="7399440" cy="200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pt-BR" sz="1600" dirty="0"/>
              <a:t>Projetar e propor um sistema de monitoramento preventivo do pé diabético composto por uma palmilha instrumentada com sensores de baixo custo, um aplicativo móvel e um modelo preditivo baseado em machine learning voltado à identificação precoce de risco de ulceração plantar.</a:t>
            </a:r>
            <a:endParaRPr lang="pt-BR" sz="17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ecaoTitulo"/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-1" normalizeH="0" baseline="0" noProof="0" dirty="0">
                <a:ln>
                  <a:noFill/>
                </a:ln>
                <a:solidFill>
                  <a:srgbClr val="688A26"/>
                </a:solidFill>
                <a:effectLst/>
                <a:uLnTx/>
                <a:uFillTx/>
                <a:latin typeface="Aptos"/>
              </a:rPr>
              <a:t>3. </a:t>
            </a:r>
            <a:r>
              <a:rPr kumimoji="0" lang="pt-BR" sz="2300" b="1" i="0" u="none" strike="noStrike" kern="1200" cap="all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Gill Sans MT"/>
              </a:rPr>
              <a:t>Objetivos Específicos</a:t>
            </a:r>
          </a:p>
        </p:txBody>
      </p:sp>
      <p:sp>
        <p:nvSpPr>
          <p:cNvPr id="232" name="ObjetivosEspecificos"/>
          <p:cNvSpPr txBox="1"/>
          <p:nvPr/>
        </p:nvSpPr>
        <p:spPr>
          <a:xfrm>
            <a:off x="571412" y="1675800"/>
            <a:ext cx="7800000" cy="320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/>
              <a:tabLst/>
              <a:defRPr/>
            </a:pPr>
            <a:r>
              <a:rPr kumimoji="0" lang="pt-BR" sz="1700" b="1" i="0" u="none" strike="noStrike" kern="1200" cap="none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Aptos"/>
              </a:rPr>
              <a:t>Palmilha instrumentada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- </a:t>
            </a:r>
            <a:r>
              <a:rPr lang="pt-BR" sz="1700" spc="-1" dirty="0">
                <a:solidFill>
                  <a:srgbClr val="595959"/>
                </a:solidFill>
                <a:latin typeface="Aptos"/>
              </a:rPr>
              <a:t>P</a:t>
            </a:r>
            <a:r>
              <a:rPr kumimoji="0" lang="pt-BR" sz="1700" b="0" i="0" u="none" strike="noStrike" kern="1200" cap="none" spc="-1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rotótipo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com sensores de pressão, temperatura e umidade, integrados ao microcontrolador ESP32 com transmissão via Bluetooth.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/>
              <a:tabLst/>
              <a:defRPr/>
            </a:pPr>
            <a:endParaRPr kumimoji="0" lang="pt-BR" sz="1700" b="0" i="0" u="none" strike="noStrike" kern="1200" cap="none" spc="-1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 startAt="2"/>
              <a:tabLst/>
              <a:defRPr/>
            </a:pPr>
            <a:r>
              <a:rPr kumimoji="0" lang="pt-BR" sz="1700" b="1" i="0" u="none" strike="noStrike" kern="1200" cap="none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Aptos"/>
              </a:rPr>
              <a:t>Aplicativo móvel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- Interface web responsiva em HTML5 para recepção, visualização em tempo real e geração de alertas a partir dos dados coletados pela palmilha.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 startAt="2"/>
              <a:tabLst/>
              <a:defRPr/>
            </a:pPr>
            <a:endParaRPr kumimoji="0" lang="pt-BR" sz="1700" b="0" i="0" u="none" strike="noStrike" kern="1200" cap="none" spc="-1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Tx/>
              <a:buFont typeface="OpenSymbol"/>
              <a:buAutoNum type="arabicPeriod" startAt="3"/>
              <a:tabLst/>
              <a:defRPr/>
            </a:pPr>
            <a:r>
              <a:rPr kumimoji="0" lang="pt-BR" sz="1700" b="1" i="0" u="none" strike="noStrike" kern="1200" cap="none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Aptos"/>
              </a:rPr>
              <a:t>Modelo preditivo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- Propor um classificador de risco de ulceração baseado no algoritmo Random Forest</a:t>
            </a:r>
            <a:r>
              <a:rPr lang="pt-BR" sz="1700" spc="-1" dirty="0">
                <a:solidFill>
                  <a:srgbClr val="595959"/>
                </a:solidFill>
                <a:latin typeface="Aptos"/>
              </a:rPr>
              <a:t>.</a:t>
            </a:r>
            <a:endParaRPr kumimoji="0" lang="pt-BR" sz="1700" b="0" i="0" u="none" strike="noStrike" kern="1200" cap="none" spc="-1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/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4.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Material e Método</a:t>
            </a:r>
          </a:p>
        </p:txBody>
      </p:sp>
      <p:sp>
        <p:nvSpPr>
          <p:cNvPr id="301" name="LabelHW"/>
          <p:cNvSpPr txBox="1"/>
          <p:nvPr/>
        </p:nvSpPr>
        <p:spPr>
          <a:xfrm>
            <a:off x="366840" y="1650000"/>
            <a:ext cx="3900000" cy="34000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txBody>
          <a:bodyPr lIns="182880" tIns="45720" rIns="91440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strike="noStrike" spc="-1" dirty="0">
                <a:solidFill>
                  <a:srgbClr val="8AB833"/>
                </a:solidFill>
                <a:latin typeface="Gill Sans MT"/>
              </a:rPr>
              <a:t>■  </a:t>
            </a:r>
            <a:r>
              <a:rPr lang="pt-BR" sz="1400" b="1" strike="noStrike" spc="-1" dirty="0">
                <a:latin typeface="Gill Sans MT"/>
              </a:rPr>
              <a:t>HARDWARE</a:t>
            </a:r>
          </a:p>
        </p:txBody>
      </p:sp>
      <p:sp>
        <p:nvSpPr>
          <p:cNvPr id="302" name="ConteudoHW"/>
          <p:cNvSpPr txBox="1"/>
          <p:nvPr/>
        </p:nvSpPr>
        <p:spPr>
          <a:xfrm>
            <a:off x="366840" y="2030000"/>
            <a:ext cx="7877048" cy="275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3 sensores FSR 402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- pressão plantar nos pontos de maior risco (1º e 5º metatarso e calcâneo).</a:t>
            </a:r>
          </a:p>
          <a:p>
            <a:pPr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</a:pPr>
            <a:endParaRPr lang="pt-BR" sz="160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Sensor DHT22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- temperatura e umidade no interior do calçado.</a:t>
            </a:r>
          </a:p>
          <a:p>
            <a:pPr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</a:pPr>
            <a:endParaRPr lang="pt-BR" sz="160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Microcontrolador ESP32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- processamento e transmissão via Bluetooth </a:t>
            </a:r>
            <a:r>
              <a:rPr lang="pt-BR" sz="1600" b="0" strike="noStrike" spc="-1" dirty="0" err="1">
                <a:solidFill>
                  <a:srgbClr val="595959"/>
                </a:solidFill>
                <a:latin typeface="Aptos"/>
              </a:rPr>
              <a:t>Low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Energy (BLE).</a:t>
            </a:r>
          </a:p>
          <a:p>
            <a:pPr>
              <a:lnSpc>
                <a:spcPct val="100000"/>
              </a:lnSpc>
              <a:buClr>
                <a:srgbClr val="8AB833"/>
              </a:buClr>
            </a:pPr>
            <a:endParaRPr lang="pt-BR" sz="160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Bateria Li-Ion 18650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- autonomia para uso diário (13 horas).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A8A18-EE33-2F5B-80FC-AF68CB47F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>
            <a:extLst>
              <a:ext uri="{FF2B5EF4-FFF2-40B4-BE49-F238E27FC236}">
                <a16:creationId xmlns:a16="http://schemas.microsoft.com/office/drawing/2014/main" id="{F7550718-894C-CC6C-459F-5ACECAF52602}"/>
              </a:ext>
            </a:extLst>
          </p:cNvPr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4.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Material e Método</a:t>
            </a:r>
          </a:p>
        </p:txBody>
      </p:sp>
      <p:sp>
        <p:nvSpPr>
          <p:cNvPr id="401" name="LabelSW">
            <a:extLst>
              <a:ext uri="{FF2B5EF4-FFF2-40B4-BE49-F238E27FC236}">
                <a16:creationId xmlns:a16="http://schemas.microsoft.com/office/drawing/2014/main" id="{16A1C66D-CEA1-0DA2-496D-40CFCC1923E7}"/>
              </a:ext>
            </a:extLst>
          </p:cNvPr>
          <p:cNvSpPr txBox="1"/>
          <p:nvPr/>
        </p:nvSpPr>
        <p:spPr>
          <a:xfrm>
            <a:off x="366840" y="1675800"/>
            <a:ext cx="4100000" cy="34000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txBody>
          <a:bodyPr lIns="182880" tIns="45720" rIns="91440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strike="noStrike" spc="-1" dirty="0">
                <a:latin typeface="Gill Sans MT"/>
              </a:rPr>
              <a:t>■  SOFTWARE</a:t>
            </a:r>
          </a:p>
        </p:txBody>
      </p:sp>
      <p:sp>
        <p:nvSpPr>
          <p:cNvPr id="402" name="ConteudoSW">
            <a:extLst>
              <a:ext uri="{FF2B5EF4-FFF2-40B4-BE49-F238E27FC236}">
                <a16:creationId xmlns:a16="http://schemas.microsoft.com/office/drawing/2014/main" id="{4B063702-4CF9-293D-D9F0-0786BB6404AC}"/>
              </a:ext>
            </a:extLst>
          </p:cNvPr>
          <p:cNvSpPr txBox="1"/>
          <p:nvPr/>
        </p:nvSpPr>
        <p:spPr>
          <a:xfrm>
            <a:off x="471999" y="2092701"/>
            <a:ext cx="7386125" cy="275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Interface Web 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- visualização em tempo real, mapa do pé e alertas.</a:t>
            </a: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endParaRPr lang="pt-BR" sz="1600" b="0" strike="noStrike" spc="-1" dirty="0">
              <a:solidFill>
                <a:srgbClr val="595959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Modelo Random Forest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- classificação de risco.</a:t>
            </a: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endParaRPr lang="pt-BR" sz="1600" b="0" strike="noStrike" spc="-1" dirty="0">
              <a:solidFill>
                <a:srgbClr val="595959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Revisão sistemática PRISMA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- 16 estudos analisados (Scopus, IEEE </a:t>
            </a:r>
            <a:r>
              <a:rPr lang="pt-BR" sz="1600" b="0" strike="noStrike" spc="-1" dirty="0" err="1">
                <a:solidFill>
                  <a:srgbClr val="595959"/>
                </a:solidFill>
                <a:latin typeface="Aptos"/>
              </a:rPr>
              <a:t>Xplore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, </a:t>
            </a:r>
            <a:r>
              <a:rPr lang="pt-BR" sz="1600" b="0" strike="noStrike" spc="-1" dirty="0" err="1">
                <a:solidFill>
                  <a:srgbClr val="595959"/>
                </a:solidFill>
                <a:latin typeface="Aptos"/>
              </a:rPr>
              <a:t>PubMed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).</a:t>
            </a: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endParaRPr lang="pt-BR" sz="1600" b="0" strike="noStrike" spc="-1" dirty="0">
              <a:solidFill>
                <a:srgbClr val="595959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Validação clínica (próxima etapa)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- teste piloto e avaliação com profissionais de saúde.</a:t>
            </a:r>
          </a:p>
        </p:txBody>
      </p:sp>
    </p:spTree>
    <p:extLst>
      <p:ext uri="{BB962C8B-B14F-4D97-AF65-F5344CB8AC3E}">
        <p14:creationId xmlns:p14="http://schemas.microsoft.com/office/powerpoint/2010/main" val="13702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C4FDB4D6-A1EC-4954-AF0B-E3769A037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5C9F0EA0-386F-444B-80FE-60274499D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14400" y="514350"/>
            <a:ext cx="8229600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6785DD6-1036-00EF-F315-B2BB66C91F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"/>
          <a:stretch>
            <a:fillRect/>
          </a:stretch>
        </p:blipFill>
        <p:spPr>
          <a:xfrm rot="5400000">
            <a:off x="2513456" y="-1999107"/>
            <a:ext cx="4114801" cy="914171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CDF0879-5DDF-49A8-A4F6-95A1430B6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54846" y="4629150"/>
            <a:ext cx="89154" cy="514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8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D714DC3-DC34-B0CD-7691-2F808B0441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D55D19D6-52BF-CDB9-15F5-8AC014CED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134A35-2115-EB07-A160-9CD249471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407" y="538163"/>
            <a:ext cx="5366386" cy="4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53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D949507-B63B-BAB0-27D8-4D1AB171F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46" y="482600"/>
            <a:ext cx="1880234" cy="41783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4A8E9F5-BEBF-2661-C2B8-92C6B1F05A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481" y="3623595"/>
            <a:ext cx="2486842" cy="1473418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9608D94-09E9-E090-95CC-75F179F284F4}"/>
              </a:ext>
            </a:extLst>
          </p:cNvPr>
          <p:cNvCxnSpPr/>
          <p:nvPr/>
        </p:nvCxnSpPr>
        <p:spPr>
          <a:xfrm>
            <a:off x="1657350" y="3321844"/>
            <a:ext cx="464344" cy="226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E0A0371-1F99-FFFD-ABF6-6DAAFD047F33}"/>
              </a:ext>
            </a:extLst>
          </p:cNvPr>
          <p:cNvCxnSpPr>
            <a:cxnSpLocks/>
          </p:cNvCxnSpPr>
          <p:nvPr/>
        </p:nvCxnSpPr>
        <p:spPr>
          <a:xfrm>
            <a:off x="1253728" y="3746802"/>
            <a:ext cx="807244" cy="357664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E16F4378-B29B-9158-F3DC-4BBB756C2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776980" y="967690"/>
            <a:ext cx="3053280" cy="2107406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01ECD7A5-3FED-C87B-882D-DE3898DFFB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1377" y="494753"/>
            <a:ext cx="2959761" cy="4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18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ecaoTitulo"/>
          <p:cNvSpPr txBox="1"/>
          <p:nvPr/>
        </p:nvSpPr>
        <p:spPr>
          <a:xfrm>
            <a:off x="366840" y="613800"/>
            <a:ext cx="4572000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5.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Resultados</a:t>
            </a:r>
          </a:p>
        </p:txBody>
      </p:sp>
      <p:sp>
        <p:nvSpPr>
          <p:cNvPr id="301" name="LabelAlcancados"/>
          <p:cNvSpPr txBox="1"/>
          <p:nvPr/>
        </p:nvSpPr>
        <p:spPr>
          <a:xfrm>
            <a:off x="366840" y="1650000"/>
            <a:ext cx="4000000" cy="34000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txBody>
          <a:bodyPr lIns="182880" tIns="45720" rIns="91440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strike="noStrike" spc="-1" dirty="0">
                <a:latin typeface="Gill Sans MT"/>
              </a:rPr>
              <a:t>RESULTADOS ALCANÇADOS</a:t>
            </a:r>
          </a:p>
        </p:txBody>
      </p:sp>
      <p:sp>
        <p:nvSpPr>
          <p:cNvPr id="302" name="ConteudoAlcancados"/>
          <p:cNvSpPr txBox="1"/>
          <p:nvPr/>
        </p:nvSpPr>
        <p:spPr>
          <a:xfrm>
            <a:off x="366840" y="2030000"/>
            <a:ext cx="8205660" cy="295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400" b="1" strike="noStrike" spc="-1" dirty="0">
                <a:solidFill>
                  <a:srgbClr val="233028"/>
                </a:solidFill>
                <a:latin typeface="Aptos"/>
              </a:rPr>
              <a:t>Protótipo funcional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 - FSR, DHT22 e ESP32 integrados. Comunicação estável.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  <a:buFont typeface="Arial"/>
              <a:buChar char="●"/>
            </a:pPr>
            <a:endParaRPr lang="pt-BR" sz="1400" spc="-1" dirty="0">
              <a:solidFill>
                <a:srgbClr val="595959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400" b="1" strike="noStrike" spc="-1" dirty="0">
                <a:solidFill>
                  <a:srgbClr val="233028"/>
                </a:solidFill>
                <a:latin typeface="Aptos"/>
              </a:rPr>
              <a:t>Leituras estáveis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 - Variação dos sensores normalizadas via código.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  <a:buFont typeface="Arial"/>
              <a:buChar char="●"/>
            </a:pPr>
            <a:endParaRPr lang="pt-BR" sz="1400" b="0" strike="noStrike" spc="-1" dirty="0">
              <a:solidFill>
                <a:srgbClr val="595959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400" b="1" strike="noStrike" spc="-1" dirty="0">
                <a:solidFill>
                  <a:srgbClr val="233028"/>
                </a:solidFill>
                <a:latin typeface="Aptos"/>
              </a:rPr>
              <a:t>Aplicativo operacional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 - Mapa do pé, alertas e visualização em tempo real validados em bancada.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  <a:buFont typeface="Arial"/>
              <a:buChar char="●"/>
            </a:pPr>
            <a:endParaRPr lang="pt-BR" sz="140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400" b="1" strike="noStrike" spc="-1" dirty="0">
                <a:solidFill>
                  <a:srgbClr val="233028"/>
                </a:solidFill>
                <a:latin typeface="Aptos"/>
              </a:rPr>
              <a:t>Revisão PRISMA -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 16 estudos analisados. Lacunas mapeadas e contribuições propostas</a:t>
            </a:r>
          </a:p>
          <a:p>
            <a:pPr marL="342900" indent="-342900">
              <a:lnSpc>
                <a:spcPct val="100000"/>
              </a:lnSpc>
              <a:buClr>
                <a:srgbClr val="8AB833"/>
              </a:buClr>
              <a:buFont typeface="Arial"/>
              <a:buChar char="●"/>
            </a:pPr>
            <a:endParaRPr lang="pt-BR" sz="140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buClr>
                <a:srgbClr val="8AB833"/>
              </a:buClr>
              <a:buFont typeface="Arial"/>
              <a:buChar char="●"/>
            </a:pPr>
            <a:r>
              <a:rPr lang="pt-BR" sz="1400" b="1" strike="noStrike" spc="-1" dirty="0">
                <a:solidFill>
                  <a:srgbClr val="233028"/>
                </a:solidFill>
                <a:latin typeface="Aptos"/>
              </a:rPr>
              <a:t>Custo </a:t>
            </a:r>
            <a:r>
              <a:rPr lang="pt-BR" sz="1400" b="0" strike="noStrike" spc="-1" dirty="0">
                <a:solidFill>
                  <a:srgbClr val="595959"/>
                </a:solidFill>
                <a:latin typeface="Aptos"/>
              </a:rPr>
              <a:t>- R$ 337,65 por unidade, com base em orçamentos reais no mercado nacional.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SecaoTitulo"/>
          <p:cNvSpPr txBox="1"/>
          <p:nvPr/>
        </p:nvSpPr>
        <p:spPr>
          <a:xfrm>
            <a:off x="366839" y="613800"/>
            <a:ext cx="7041229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6. </a:t>
            </a:r>
            <a:r>
              <a:rPr lang="pt-BR" sz="3200" b="1" strike="noStrike" spc="-1" dirty="0">
                <a:latin typeface="Aptos"/>
              </a:rPr>
              <a:t>Discussão:</a:t>
            </a: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Lacunas e Respostas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81F039D-44C9-5167-CEE2-A3E598DAFA6E}"/>
              </a:ext>
            </a:extLst>
          </p:cNvPr>
          <p:cNvSpPr txBox="1"/>
          <p:nvPr/>
        </p:nvSpPr>
        <p:spPr>
          <a:xfrm>
            <a:off x="366840" y="1220957"/>
            <a:ext cx="7712741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Detalhes de hardware utilizado</a:t>
            </a:r>
            <a:r>
              <a:rPr lang="pt-BR" sz="1600" dirty="0"/>
              <a:t> - dificulta a replicabilidade.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/>
              <a:t>Especificação completa: FSR 402 + DHT22 + ESP32 + Bateria </a:t>
            </a:r>
            <a:r>
              <a:rPr lang="pt-BR" sz="1200" dirty="0"/>
              <a:t>(Código em repositório)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Umidade como variável preditiva </a:t>
            </a:r>
            <a:r>
              <a:rPr lang="pt-BR" sz="1600" dirty="0"/>
              <a:t>- umidade excessiva no interior do calçado favorece a maceração da pele e a proliferação de microrganismos.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/>
              <a:t>Inclusão da umidade no vetor de features do 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Ausência de transparência de custos </a:t>
            </a:r>
            <a:r>
              <a:rPr lang="pt-BR" sz="1600" dirty="0"/>
              <a:t>- </a:t>
            </a:r>
            <a:r>
              <a:rPr lang="pt-BR" sz="1600" dirty="0" err="1"/>
              <a:t>Low</a:t>
            </a:r>
            <a:r>
              <a:rPr lang="pt-BR" sz="1600" dirty="0"/>
              <a:t> </a:t>
            </a:r>
            <a:r>
              <a:rPr lang="pt-BR" sz="1600" dirty="0" err="1"/>
              <a:t>cost</a:t>
            </a:r>
            <a:r>
              <a:rPr lang="pt-BR" sz="1600" dirty="0"/>
              <a:t> sem valores.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/>
              <a:t>Detalhado por componente em moeda nacional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Ausência de soluções documentadas para o contexto brasileiro</a:t>
            </a:r>
            <a:r>
              <a:rPr lang="pt-BR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/>
              <a:t>Documentação em português, componentes do mercado nacional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Aplicativos de código fechado.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/>
              <a:t>Aplicativo em HTML5 com arquitetura aberta.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F9BD6-7A46-45DA-5C3F-B1851FCA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SecaoTitulo">
            <a:extLst>
              <a:ext uri="{FF2B5EF4-FFF2-40B4-BE49-F238E27FC236}">
                <a16:creationId xmlns:a16="http://schemas.microsoft.com/office/drawing/2014/main" id="{C0A4537D-6A87-A325-B16C-40076CE96F0A}"/>
              </a:ext>
            </a:extLst>
          </p:cNvPr>
          <p:cNvSpPr txBox="1"/>
          <p:nvPr/>
        </p:nvSpPr>
        <p:spPr>
          <a:xfrm>
            <a:off x="366840" y="613800"/>
            <a:ext cx="4572000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7.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Discussão</a:t>
            </a:r>
          </a:p>
        </p:txBody>
      </p:sp>
      <p:sp>
        <p:nvSpPr>
          <p:cNvPr id="301" name="Bloco1">
            <a:extLst>
              <a:ext uri="{FF2B5EF4-FFF2-40B4-BE49-F238E27FC236}">
                <a16:creationId xmlns:a16="http://schemas.microsoft.com/office/drawing/2014/main" id="{8CF602E0-77D0-0953-15E4-CD1D5ADF7F22}"/>
              </a:ext>
            </a:extLst>
          </p:cNvPr>
          <p:cNvSpPr txBox="1"/>
          <p:nvPr/>
        </p:nvSpPr>
        <p:spPr>
          <a:xfrm>
            <a:off x="366840" y="1415682"/>
            <a:ext cx="8400000" cy="75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pt-BR" sz="1600" b="1" strike="noStrike" spc="-1" dirty="0">
                <a:solidFill>
                  <a:srgbClr val="8AB833"/>
                </a:solidFill>
                <a:latin typeface="Gill Sans MT"/>
              </a:rPr>
              <a:t>■  </a:t>
            </a:r>
            <a:r>
              <a:rPr lang="pt-BR" sz="1600" b="1" strike="noStrike" spc="-1" dirty="0">
                <a:latin typeface="Gill Sans MT"/>
              </a:rPr>
              <a:t>VIABILIDADE ECONÔMICA</a:t>
            </a:r>
          </a:p>
          <a:p>
            <a:pPr algn="l">
              <a:lnSpc>
                <a:spcPct val="110000"/>
              </a:lnSpc>
            </a:pP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Custo de </a:t>
            </a: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R$ 337,65/unidade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compatível com </a:t>
            </a:r>
            <a:r>
              <a:rPr lang="pt-BR" sz="1600" b="0" strike="noStrike" spc="-1" dirty="0" err="1">
                <a:solidFill>
                  <a:srgbClr val="595959"/>
                </a:solidFill>
                <a:latin typeface="Aptos"/>
              </a:rPr>
              <a:t>Khandakar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et al. (2022) (</a:t>
            </a: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US$ 170/unidade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). </a:t>
            </a:r>
          </a:p>
          <a:p>
            <a:pPr algn="l">
              <a:lnSpc>
                <a:spcPct val="110000"/>
              </a:lnSpc>
            </a:pPr>
            <a:endParaRPr lang="pt-BR" sz="1050" b="0" strike="noStrike" spc="-1" dirty="0">
              <a:solidFill>
                <a:srgbClr val="595959"/>
              </a:solidFill>
              <a:latin typeface="Aptos"/>
            </a:endParaRPr>
          </a:p>
        </p:txBody>
      </p:sp>
      <p:sp>
        <p:nvSpPr>
          <p:cNvPr id="401" name="Bloco2">
            <a:extLst>
              <a:ext uri="{FF2B5EF4-FFF2-40B4-BE49-F238E27FC236}">
                <a16:creationId xmlns:a16="http://schemas.microsoft.com/office/drawing/2014/main" id="{4A49C718-9D7C-981F-CC5D-2965D20B2B49}"/>
              </a:ext>
            </a:extLst>
          </p:cNvPr>
          <p:cNvSpPr txBox="1"/>
          <p:nvPr/>
        </p:nvSpPr>
        <p:spPr>
          <a:xfrm>
            <a:off x="366840" y="2251881"/>
            <a:ext cx="8400000" cy="78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pt-BR" sz="1600" b="1" strike="noStrike" spc="-1" dirty="0">
                <a:solidFill>
                  <a:srgbClr val="8AB833"/>
                </a:solidFill>
                <a:latin typeface="Aptos" panose="020B0004020202020204" pitchFamily="34" charset="0"/>
              </a:rPr>
              <a:t>■  </a:t>
            </a:r>
            <a:r>
              <a:rPr lang="pt-BR" sz="1600" b="1" strike="noStrike" spc="-1" dirty="0">
                <a:latin typeface="Aptos" panose="020B0004020202020204" pitchFamily="34" charset="0"/>
              </a:rPr>
              <a:t>UMIDADE COMO VARIÁVEL PREDITIVA</a:t>
            </a:r>
          </a:p>
          <a:p>
            <a:pPr>
              <a:lnSpc>
                <a:spcPct val="110000"/>
              </a:lnSpc>
            </a:pPr>
            <a:r>
              <a:rPr lang="pt-BR" sz="1600" b="0" strike="noStrike" spc="-1" dirty="0">
                <a:solidFill>
                  <a:srgbClr val="595959"/>
                </a:solidFill>
                <a:latin typeface="Aptos" panose="020B0004020202020204" pitchFamily="34" charset="0"/>
              </a:rPr>
              <a:t>Apenas 3 dos 16 estudos revisados integram pressão, temperatura e umidade num único dispositivo e nenhum detalha o peso isolado da umidade no modelo. </a:t>
            </a:r>
            <a:r>
              <a:rPr lang="pt-BR" sz="1600" b="0" strike="noStrike" spc="-1" dirty="0" err="1">
                <a:solidFill>
                  <a:srgbClr val="595959"/>
                </a:solidFill>
                <a:latin typeface="Aptos" panose="020B0004020202020204" pitchFamily="34" charset="0"/>
              </a:rPr>
              <a:t>Kosaji</a:t>
            </a:r>
            <a:r>
              <a:rPr lang="pt-BR" sz="1600" b="0" strike="noStrike" spc="-1" dirty="0">
                <a:solidFill>
                  <a:srgbClr val="595959"/>
                </a:solidFill>
                <a:latin typeface="Aptos" panose="020B0004020202020204" pitchFamily="34" charset="0"/>
              </a:rPr>
              <a:t> et al. (2025) associa umidade excessiva ao risco de maceração em neuropatia periférica.</a:t>
            </a:r>
          </a:p>
        </p:txBody>
      </p:sp>
      <p:sp>
        <p:nvSpPr>
          <p:cNvPr id="501" name="Bloco3">
            <a:extLst>
              <a:ext uri="{FF2B5EF4-FFF2-40B4-BE49-F238E27FC236}">
                <a16:creationId xmlns:a16="http://schemas.microsoft.com/office/drawing/2014/main" id="{79A6ACDA-3B10-D987-78F4-6AF24B992542}"/>
              </a:ext>
            </a:extLst>
          </p:cNvPr>
          <p:cNvSpPr txBox="1"/>
          <p:nvPr/>
        </p:nvSpPr>
        <p:spPr>
          <a:xfrm>
            <a:off x="366840" y="3583763"/>
            <a:ext cx="8400000" cy="89695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pt-BR" sz="1600" b="1" strike="noStrike" spc="-1" dirty="0">
                <a:solidFill>
                  <a:srgbClr val="8AB833"/>
                </a:solidFill>
                <a:latin typeface="Aptos" panose="020B0004020202020204" pitchFamily="34" charset="0"/>
              </a:rPr>
              <a:t>■  </a:t>
            </a:r>
            <a:r>
              <a:rPr lang="pt-BR" sz="1600" b="1" strike="noStrike" spc="-1" dirty="0">
                <a:solidFill>
                  <a:schemeClr val="tx2"/>
                </a:solidFill>
                <a:latin typeface="Aptos" panose="020B0004020202020204" pitchFamily="34" charset="0"/>
              </a:rPr>
              <a:t>VALIDADE EXTERNA</a:t>
            </a:r>
          </a:p>
          <a:p>
            <a:pPr>
              <a:lnSpc>
                <a:spcPct val="110000"/>
              </a:lnSpc>
            </a:pPr>
            <a:r>
              <a:rPr lang="pt-BR" sz="1400" b="0" strike="noStrike" spc="-1" dirty="0">
                <a:solidFill>
                  <a:srgbClr val="595959"/>
                </a:solidFill>
                <a:latin typeface="Aptos" panose="020B0004020202020204" pitchFamily="34" charset="0"/>
              </a:rPr>
              <a:t>A maioria dos estudos valida sistemas com voluntários saudáveis em laboratório. Chatwin et al. (2020) identificam isso como o principal limite da área. Este trabalho prevê testes com pacientes diabéticos em uso real, calçados, em condições diárias: cenário ainda não coberto de forma sistemática pela literatura.</a:t>
            </a:r>
          </a:p>
        </p:txBody>
      </p:sp>
    </p:spTree>
    <p:extLst>
      <p:ext uri="{BB962C8B-B14F-4D97-AF65-F5344CB8AC3E}">
        <p14:creationId xmlns:p14="http://schemas.microsoft.com/office/powerpoint/2010/main" val="2129518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SecaoTitulo"/>
          <p:cNvSpPr txBox="1"/>
          <p:nvPr/>
        </p:nvSpPr>
        <p:spPr>
          <a:xfrm>
            <a:off x="581400" y="675360"/>
            <a:ext cx="4594680" cy="938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8.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Conclusão</a:t>
            </a:r>
          </a:p>
        </p:txBody>
      </p:sp>
      <p:sp>
        <p:nvSpPr>
          <p:cNvPr id="301" name="FraseSintese"/>
          <p:cNvSpPr txBox="1"/>
          <p:nvPr/>
        </p:nvSpPr>
        <p:spPr>
          <a:xfrm>
            <a:off x="800000" y="1650000"/>
            <a:ext cx="7600000" cy="70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dirty="0"/>
              <a:t>Este trabalho demonstra que é possível monitorar o pé diabético de forma preventiva, com tecnologia acessível, desenvolvida para o contexto real do SUS.</a:t>
            </a:r>
            <a:endParaRPr lang="pt-BR" sz="1800" b="0" strike="noStrike" spc="-1" dirty="0">
              <a:solidFill>
                <a:srgbClr val="455F51"/>
              </a:solidFill>
              <a:latin typeface="Gill Sans MT"/>
            </a:endParaRPr>
          </a:p>
        </p:txBody>
      </p:sp>
      <p:sp>
        <p:nvSpPr>
          <p:cNvPr id="401" name="ConclusoesOBJ"/>
          <p:cNvSpPr txBox="1"/>
          <p:nvPr/>
        </p:nvSpPr>
        <p:spPr>
          <a:xfrm>
            <a:off x="672000" y="2568140"/>
            <a:ext cx="7800000" cy="13180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pt-BR" sz="1400" b="1" dirty="0"/>
              <a:t>Protótipo funcional</a:t>
            </a:r>
            <a:r>
              <a:rPr lang="pt-BR" sz="1400" dirty="0"/>
              <a:t> - palmilha, interface e modelo preditivo integrados por R$ 337,65.</a:t>
            </a:r>
          </a:p>
          <a:p>
            <a:endParaRPr lang="pt-BR" sz="1400" dirty="0"/>
          </a:p>
          <a:p>
            <a:r>
              <a:rPr lang="pt-BR" sz="1400" b="1" dirty="0"/>
              <a:t>Próximo passo</a:t>
            </a:r>
            <a:r>
              <a:rPr lang="pt-BR" sz="1400" dirty="0"/>
              <a:t> - validação da palmilha em uso diário.</a:t>
            </a:r>
          </a:p>
          <a:p>
            <a:endParaRPr lang="pt-BR" sz="1400" dirty="0"/>
          </a:p>
          <a:p>
            <a:r>
              <a:rPr lang="pt-BR" sz="1400" b="1" dirty="0"/>
              <a:t>Perspectiva</a:t>
            </a:r>
            <a:r>
              <a:rPr lang="pt-BR" sz="1400" dirty="0"/>
              <a:t> - integração ao fluxo do SUS como ferramenta de atenção primária.</a:t>
            </a:r>
          </a:p>
          <a:p>
            <a:endParaRPr lang="pt-BR" sz="1400" dirty="0"/>
          </a:p>
          <a:p>
            <a:endParaRPr lang="pt-BR" sz="1400" i="1" dirty="0"/>
          </a:p>
          <a:p>
            <a:pPr algn="ctr"/>
            <a:r>
              <a:rPr lang="pt-BR" sz="1400" i="1" dirty="0"/>
              <a:t>Das 85 amputações que acontecem todo dia, apenas no Brasil, se conseguirmos evitar nem que seja uma, já teremos cumprido o propósito desta pesquisa.</a:t>
            </a:r>
            <a:endParaRPr lang="pt-BR" sz="1400" dirty="0"/>
          </a:p>
          <a:p>
            <a:endParaRPr lang="pt-BR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C8842-791C-C779-311D-516DAE55D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23EF37-19EC-4973-A7AF-4BBF68646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0317E5-9EEB-D348-97FD-BD8DCEC8E5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75" r="-5" b="9495"/>
          <a:stretch>
            <a:fillRect/>
          </a:stretch>
        </p:blipFill>
        <p:spPr>
          <a:xfrm rot="5400000">
            <a:off x="1150055" y="-251209"/>
            <a:ext cx="1671569" cy="300976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DFE09B3-DE6F-6593-4C56-F2B203D7F4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60" r="1155" b="-4"/>
          <a:stretch>
            <a:fillRect/>
          </a:stretch>
        </p:blipFill>
        <p:spPr>
          <a:xfrm>
            <a:off x="482600" y="2218248"/>
            <a:ext cx="3008122" cy="2507352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1EB86501-CF23-CD9F-AA93-EA59537107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63"/>
          <a:stretch>
            <a:fillRect/>
          </a:stretch>
        </p:blipFill>
        <p:spPr>
          <a:xfrm>
            <a:off x="3635117" y="417891"/>
            <a:ext cx="5026282" cy="430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13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9187</TotalTime>
  <Words>762</Words>
  <Application>Microsoft Office PowerPoint</Application>
  <PresentationFormat>Apresentação na tela (16:9)</PresentationFormat>
  <Paragraphs>84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14</vt:i4>
      </vt:variant>
    </vt:vector>
  </HeadingPairs>
  <TitlesOfParts>
    <vt:vector size="29" baseType="lpstr">
      <vt:lpstr>Aptos</vt:lpstr>
      <vt:lpstr>Arial</vt:lpstr>
      <vt:lpstr>Georgia</vt:lpstr>
      <vt:lpstr>Gill Sans MT</vt:lpstr>
      <vt:lpstr>Helvetica Neue Medium</vt:lpstr>
      <vt:lpstr>Nunito Sans</vt:lpstr>
      <vt:lpstr>Nunito Sans</vt:lpstr>
      <vt:lpstr>OpenSymbol</vt:lpstr>
      <vt:lpstr>Symbol</vt:lpstr>
      <vt:lpstr>Times New Roman</vt:lpstr>
      <vt:lpstr>Wingdings</vt:lpstr>
      <vt:lpstr>Office</vt:lpstr>
      <vt:lpstr>Office</vt:lpstr>
      <vt:lpstr>Office</vt:lpstr>
      <vt:lpstr>Office</vt:lpstr>
      <vt:lpstr>Arquitetura de baixo custo para monitoramento preventivo do pé diabético: proposta de sistema com sensores e modelo preditivo baseado em Random Forest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Chrysthian Chrisley</dc:creator>
  <cp:lastModifiedBy>Chrysthian Chrisley</cp:lastModifiedBy>
  <cp:revision>8</cp:revision>
  <dcterms:modified xsi:type="dcterms:W3CDTF">2026-04-13T18:51:23Z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Alexandra Monteiro</dc:creator>
  <dc:description/>
  <dc:language>en-US</dc:language>
  <cp:lastModifiedBy>Universidade do Estado do Rio de Janeiro - Telessaúde</cp:lastModifiedBy>
  <dcterms:modified xsi:type="dcterms:W3CDTF">2026-01-26T18:13:03Z</dcterms:modified>
  <cp:revision>60</cp:revision>
  <dc:subject/>
  <dc:title>THIS IS YOUR PRESENTATION (OR SLIDEDOC) TITLE</dc:title>
</cp:coreProperties>
</file>