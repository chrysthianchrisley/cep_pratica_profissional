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metadata/core-properties" Target="docProps/core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5" r:id="rId2"/>
    <p:sldMasterId id="2147483678" r:id="rId3"/>
    <p:sldMasterId id="2147483684" r:id="rId4"/>
  </p:sldMasterIdLst>
  <p:notesMasterIdLst>
    <p:notesMasterId r:id="rId18"/>
  </p:notesMasterIdLst>
  <p:sldIdLst>
    <p:sldId id="256" r:id="rId5"/>
    <p:sldId id="258" r:id="rId6"/>
    <p:sldId id="276" r:id="rId7"/>
    <p:sldId id="277" r:id="rId8"/>
    <p:sldId id="278" r:id="rId9"/>
    <p:sldId id="285" r:id="rId10"/>
    <p:sldId id="282" r:id="rId11"/>
    <p:sldId id="283" r:id="rId12"/>
    <p:sldId id="279" r:id="rId13"/>
    <p:sldId id="286" r:id="rId14"/>
    <p:sldId id="280" r:id="rId15"/>
    <p:sldId id="281" r:id="rId16"/>
    <p:sldId id="284" r:id="rId17"/>
  </p:sldIdLst>
  <p:sldSz cx="9144000" cy="5143500" type="screen16x9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4" d="100"/>
          <a:sy n="134" d="100"/>
        </p:scale>
        <p:origin x="95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C98697-069B-4027-B735-EB22068E6AC2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A55C6-0D80-463C-8FD9-BE9001F2B2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2628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88">
            <a:extLst>
              <a:ext uri="{FF2B5EF4-FFF2-40B4-BE49-F238E27FC236}">
                <a16:creationId xmlns:a16="http://schemas.microsoft.com/office/drawing/2014/main" id="{A5A59EEA-B444-ECD6-2B3E-E46D181C20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Shape 89">
            <a:extLst>
              <a:ext uri="{FF2B5EF4-FFF2-40B4-BE49-F238E27FC236}">
                <a16:creationId xmlns:a16="http://schemas.microsoft.com/office/drawing/2014/main" id="{FAC313B1-73FE-8730-7A7D-1F10039FC1E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ster1-Dividen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79640" y="575640"/>
            <a:ext cx="1897200" cy="334440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FCB207F-6ACF-4833-BE92-75C7DF70033A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ster1-Layout13-cust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179640" y="575640"/>
            <a:ext cx="1897200" cy="334440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ster1-Layout13-cust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179640" y="575640"/>
            <a:ext cx="1897200" cy="334440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60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1">
            <a:extLst>
              <a:ext uri="{FF2B5EF4-FFF2-40B4-BE49-F238E27FC236}">
                <a16:creationId xmlns:a16="http://schemas.microsoft.com/office/drawing/2014/main" id="{FBF55B6A-137D-AF39-80D4-5057B2ECA51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68922" y="2387251"/>
            <a:ext cx="3636596" cy="2258997"/>
          </a:xfrm>
        </p:spPr>
        <p:txBody>
          <a:bodyPr lIns="91421" tIns="91421" rIns="91421" bIns="91421" anchor="t"/>
          <a:lstStyle>
            <a:lvl1pPr>
              <a:defRPr sz="3000" b="1">
                <a:solidFill>
                  <a:srgbClr val="F67031"/>
                </a:solidFill>
              </a:defRPr>
            </a:lvl1pPr>
          </a:lstStyle>
          <a:p>
            <a:pPr lvl="0"/>
            <a:endParaRPr lang="pt-BR"/>
          </a:p>
        </p:txBody>
      </p:sp>
      <p:pic>
        <p:nvPicPr>
          <p:cNvPr id="3" name="Picture 11" descr="logo_uerj_cor.png">
            <a:extLst>
              <a:ext uri="{FF2B5EF4-FFF2-40B4-BE49-F238E27FC236}">
                <a16:creationId xmlns:a16="http://schemas.microsoft.com/office/drawing/2014/main" id="{BA430183-E31D-2138-2DAB-523550E8A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33" y="555571"/>
            <a:ext cx="495083" cy="54483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Imagem 2" descr="Logotipo&#10;&#10;Descrição gerada automaticamente">
            <a:extLst>
              <a:ext uri="{FF2B5EF4-FFF2-40B4-BE49-F238E27FC236}">
                <a16:creationId xmlns:a16="http://schemas.microsoft.com/office/drawing/2014/main" id="{67C05E8B-52E4-3CF7-C7BF-E324EF7F7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185" y="532427"/>
            <a:ext cx="456907" cy="562200"/>
          </a:xfrm>
          <a:prstGeom prst="rect">
            <a:avLst/>
          </a:prstGeom>
          <a:noFill/>
          <a:ln cap="flat">
            <a:noFill/>
          </a:ln>
        </p:spPr>
      </p:pic>
      <p:cxnSp>
        <p:nvCxnSpPr>
          <p:cNvPr id="5" name="Straight Connector 13">
            <a:extLst>
              <a:ext uri="{FF2B5EF4-FFF2-40B4-BE49-F238E27FC236}">
                <a16:creationId xmlns:a16="http://schemas.microsoft.com/office/drawing/2014/main" id="{F498011D-9275-524F-E589-8EEFF27E9166}"/>
              </a:ext>
            </a:extLst>
          </p:cNvPr>
          <p:cNvCxnSpPr/>
          <p:nvPr/>
        </p:nvCxnSpPr>
        <p:spPr>
          <a:xfrm rot="5400013">
            <a:off x="658203" y="853354"/>
            <a:ext cx="592476" cy="0"/>
          </a:xfrm>
          <a:prstGeom prst="straightConnector1">
            <a:avLst/>
          </a:prstGeom>
          <a:noFill/>
          <a:ln w="22229" cap="rnd">
            <a:solidFill>
              <a:srgbClr val="C2C2C2"/>
            </a:solidFill>
            <a:custDash>
              <a:ds d="600000" sp="0"/>
            </a:custDash>
            <a:miter/>
          </a:ln>
        </p:spPr>
      </p:cxnSp>
      <p:pic>
        <p:nvPicPr>
          <p:cNvPr id="6" name="Imagem 4" descr="Texto&#10;&#10;Descrição gerada automaticamente com confiança baixa">
            <a:extLst>
              <a:ext uri="{FF2B5EF4-FFF2-40B4-BE49-F238E27FC236}">
                <a16:creationId xmlns:a16="http://schemas.microsoft.com/office/drawing/2014/main" id="{0ADEB577-CAFD-91F1-5D58-09CAC77710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4436" y="362833"/>
            <a:ext cx="964371" cy="89880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11233520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ster1-Layout14-cust-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179640" y="575640"/>
            <a:ext cx="1897200" cy="334440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1-Layout14-cust-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ster1-Layout16-cust-Title-+-2-columns-with-intro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179640" y="575640"/>
            <a:ext cx="1897200" cy="334440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35960" y="528840"/>
            <a:ext cx="8272080" cy="89208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pt-BR" sz="2100" b="0" strike="noStrike" cap="all" spc="-1">
                <a:solidFill>
                  <a:srgbClr val="FFFFFF"/>
                </a:solidFill>
                <a:latin typeface="Gill Sans MT"/>
              </a:rPr>
              <a:t>Clique para editar o título Mestre</a:t>
            </a:r>
            <a:endParaRPr lang="en-US" sz="2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35960" y="1752120"/>
            <a:ext cx="8272080" cy="264204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>
            <a:normAutofit/>
          </a:bodyPr>
          <a:lstStyle/>
          <a:p>
            <a:pPr marL="229320" indent="-229320">
              <a:lnSpc>
                <a:spcPct val="100000"/>
              </a:lnSpc>
              <a:spcBef>
                <a:spcPts val="300"/>
              </a:spcBef>
              <a:spcAft>
                <a:spcPts val="45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350" b="0" strike="noStrike" spc="-1">
                <a:solidFill>
                  <a:srgbClr val="455F51"/>
                </a:solidFill>
                <a:latin typeface="Gill Sans MT"/>
              </a:rPr>
              <a:t>Clique para editar os estilos de texto Mestres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pPr marL="472320" lvl="1" indent="-229320">
              <a:lnSpc>
                <a:spcPct val="100000"/>
              </a:lnSpc>
              <a:spcBef>
                <a:spcPts val="300"/>
              </a:spcBef>
              <a:spcAft>
                <a:spcPts val="451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200" b="0" strike="noStrike" spc="-1">
                <a:solidFill>
                  <a:srgbClr val="455F51"/>
                </a:solidFill>
                <a:latin typeface="Gill Sans MT"/>
              </a:rPr>
              <a:t>Segundo nível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675000" lvl="2" indent="-202680">
              <a:lnSpc>
                <a:spcPct val="100000"/>
              </a:lnSpc>
              <a:spcBef>
                <a:spcPts val="300"/>
              </a:spcBef>
              <a:spcAft>
                <a:spcPts val="45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050" b="0" strike="noStrike" spc="-1">
                <a:solidFill>
                  <a:srgbClr val="455F51"/>
                </a:solidFill>
                <a:latin typeface="Gill Sans MT"/>
              </a:rPr>
              <a:t>Terceiro nível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  <a:p>
            <a:pPr marL="931320" lvl="3" indent="-175680">
              <a:lnSpc>
                <a:spcPct val="100000"/>
              </a:lnSpc>
              <a:spcBef>
                <a:spcPts val="201"/>
              </a:spcBef>
              <a:spcAft>
                <a:spcPts val="451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900" b="0" strike="noStrike" spc="-1">
                <a:solidFill>
                  <a:srgbClr val="455F51"/>
                </a:solidFill>
                <a:latin typeface="Gill Sans MT"/>
              </a:rPr>
              <a:t>Quarto nível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  <a:p>
            <a:pPr marL="1201680" lvl="4" indent="-175680">
              <a:lnSpc>
                <a:spcPct val="100000"/>
              </a:lnSpc>
              <a:spcBef>
                <a:spcPts val="201"/>
              </a:spcBef>
              <a:spcAft>
                <a:spcPts val="45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900" b="0" strike="noStrike" spc="-1">
                <a:solidFill>
                  <a:srgbClr val="455F51"/>
                </a:solidFill>
                <a:latin typeface="Gill Sans MT"/>
              </a:rPr>
              <a:t>Quinto nível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704560" y="4467240"/>
            <a:ext cx="2133720" cy="27396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en-US" sz="670" b="0" strike="noStrike" spc="-1">
                <a:solidFill>
                  <a:srgbClr val="8AB833"/>
                </a:solidFill>
                <a:latin typeface="Gill Sans MT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07AD82B-ECBF-499D-8804-0D206D891B6B}" type="datetime">
              <a:rPr lang="en-US" sz="670" b="0" strike="noStrike" spc="-1">
                <a:solidFill>
                  <a:srgbClr val="8AB833"/>
                </a:solidFill>
                <a:latin typeface="Gill Sans MT"/>
              </a:rPr>
              <a:t>4/6/2026</a:t>
            </a:fld>
            <a:endParaRPr lang="en-US" sz="6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435960" y="4464000"/>
            <a:ext cx="5187960" cy="27396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918560" y="4467240"/>
            <a:ext cx="789480" cy="27396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en-US" sz="1000" b="0" strike="noStrike" spc="-1">
                <a:solidFill>
                  <a:srgbClr val="CCCCCC"/>
                </a:solidFill>
                <a:latin typeface="Nunito Sans"/>
                <a:ea typeface="Nunito San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2665AD9-E53B-4FD0-A8DB-F00F25A1C142}" type="slidenum">
              <a:rPr lang="en-US" sz="1000" b="0" strike="noStrike" spc="-1">
                <a:solidFill>
                  <a:srgbClr val="CCCCCC"/>
                </a:solidFill>
                <a:latin typeface="Nunito Sans"/>
                <a:ea typeface="Nunito Sans"/>
              </a:rPr>
              <a:t>‹nº›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Rectangle 8"/>
          <p:cNvSpPr/>
          <p:nvPr/>
        </p:nvSpPr>
        <p:spPr>
          <a:xfrm>
            <a:off x="334800" y="343080"/>
            <a:ext cx="2777400" cy="71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549E3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Rectangle 9"/>
          <p:cNvSpPr/>
          <p:nvPr/>
        </p:nvSpPr>
        <p:spPr>
          <a:xfrm>
            <a:off x="6031440" y="340200"/>
            <a:ext cx="2777400" cy="738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2967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Rectangle 10"/>
          <p:cNvSpPr/>
          <p:nvPr/>
        </p:nvSpPr>
        <p:spPr>
          <a:xfrm>
            <a:off x="3181320" y="343080"/>
            <a:ext cx="2777400" cy="687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8AB8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8"/>
          <p:cNvSpPr/>
          <p:nvPr/>
        </p:nvSpPr>
        <p:spPr>
          <a:xfrm>
            <a:off x="334800" y="343080"/>
            <a:ext cx="2777400" cy="71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549E3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Rectangle 9"/>
          <p:cNvSpPr/>
          <p:nvPr/>
        </p:nvSpPr>
        <p:spPr>
          <a:xfrm>
            <a:off x="6031440" y="340200"/>
            <a:ext cx="2777400" cy="738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2967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Rectangle 10"/>
          <p:cNvSpPr/>
          <p:nvPr/>
        </p:nvSpPr>
        <p:spPr>
          <a:xfrm>
            <a:off x="3181320" y="343080"/>
            <a:ext cx="2777400" cy="687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8AB8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277200" y="284040"/>
            <a:ext cx="1824840" cy="3678120"/>
          </a:xfrm>
          <a:prstGeom prst="rect">
            <a:avLst/>
          </a:prstGeom>
          <a:noFill/>
          <a:ln w="1908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6" name="Picture 11" descr="logo_uerj_cor.png"/>
          <p:cNvPicPr/>
          <p:nvPr/>
        </p:nvPicPr>
        <p:blipFill>
          <a:blip r:embed="rId5"/>
          <a:stretch/>
        </p:blipFill>
        <p:spPr>
          <a:xfrm>
            <a:off x="7333920" y="534240"/>
            <a:ext cx="384120" cy="423000"/>
          </a:xfrm>
          <a:prstGeom prst="rect">
            <a:avLst/>
          </a:prstGeom>
          <a:ln w="19080">
            <a:noFill/>
          </a:ln>
        </p:spPr>
      </p:pic>
      <p:pic>
        <p:nvPicPr>
          <p:cNvPr id="137" name="Imagem 9" descr="Logotipo  Descrição gerada automaticamente"/>
          <p:cNvPicPr/>
          <p:nvPr/>
        </p:nvPicPr>
        <p:blipFill>
          <a:blip r:embed="rId6"/>
          <a:stretch/>
        </p:blipFill>
        <p:spPr>
          <a:xfrm>
            <a:off x="7939080" y="524520"/>
            <a:ext cx="354600" cy="436320"/>
          </a:xfrm>
          <a:prstGeom prst="rect">
            <a:avLst/>
          </a:prstGeom>
          <a:ln w="19080">
            <a:noFill/>
          </a:ln>
        </p:spPr>
      </p:pic>
      <p:cxnSp>
        <p:nvCxnSpPr>
          <p:cNvPr id="138" name="Straight Connector 13"/>
          <p:cNvCxnSpPr/>
          <p:nvPr/>
        </p:nvCxnSpPr>
        <p:spPr>
          <a:xfrm>
            <a:off x="7856280" y="570600"/>
            <a:ext cx="360" cy="421560"/>
          </a:xfrm>
          <a:prstGeom prst="straightConnector1">
            <a:avLst/>
          </a:prstGeom>
          <a:ln w="22320" cap="rnd">
            <a:solidFill>
              <a:srgbClr val="C2C2C2"/>
            </a:solidFill>
            <a:custDash>
              <a:ds d="498387" sp="1000"/>
            </a:custDash>
            <a:miter/>
          </a:ln>
        </p:spPr>
      </p:cxnSp>
      <p:pic>
        <p:nvPicPr>
          <p:cNvPr id="139" name="Imagem 11" descr="Texto  Descrição gerada automaticamente com confiança baixa"/>
          <p:cNvPicPr/>
          <p:nvPr/>
        </p:nvPicPr>
        <p:blipFill>
          <a:blip r:embed="rId7"/>
          <a:stretch/>
        </p:blipFill>
        <p:spPr>
          <a:xfrm>
            <a:off x="8215920" y="393840"/>
            <a:ext cx="748440" cy="697680"/>
          </a:xfrm>
          <a:prstGeom prst="rect">
            <a:avLst/>
          </a:prstGeom>
          <a:ln w="19080">
            <a:noFill/>
          </a:ln>
        </p:spPr>
      </p:pic>
      <p:sp>
        <p:nvSpPr>
          <p:cNvPr id="14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60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9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ctangle 8"/>
          <p:cNvSpPr/>
          <p:nvPr/>
        </p:nvSpPr>
        <p:spPr>
          <a:xfrm>
            <a:off x="334800" y="343080"/>
            <a:ext cx="2777400" cy="71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549E3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Rectangle 9"/>
          <p:cNvSpPr/>
          <p:nvPr/>
        </p:nvSpPr>
        <p:spPr>
          <a:xfrm>
            <a:off x="6031440" y="340200"/>
            <a:ext cx="2777400" cy="738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2967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Rectangle 10"/>
          <p:cNvSpPr/>
          <p:nvPr/>
        </p:nvSpPr>
        <p:spPr>
          <a:xfrm>
            <a:off x="3181320" y="343080"/>
            <a:ext cx="2777400" cy="687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8AB8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7" name="Picture 11" descr="logo_uerj_cor.png"/>
          <p:cNvPicPr/>
          <p:nvPr/>
        </p:nvPicPr>
        <p:blipFill>
          <a:blip r:embed="rId4"/>
          <a:stretch/>
        </p:blipFill>
        <p:spPr>
          <a:xfrm>
            <a:off x="7333920" y="534240"/>
            <a:ext cx="384120" cy="423000"/>
          </a:xfrm>
          <a:prstGeom prst="rect">
            <a:avLst/>
          </a:prstGeom>
          <a:ln w="19080">
            <a:noFill/>
          </a:ln>
        </p:spPr>
      </p:pic>
      <p:pic>
        <p:nvPicPr>
          <p:cNvPr id="148" name="Imagem 6" descr="Logotipo  Descrição gerada automaticamente"/>
          <p:cNvPicPr/>
          <p:nvPr/>
        </p:nvPicPr>
        <p:blipFill>
          <a:blip r:embed="rId5"/>
          <a:stretch/>
        </p:blipFill>
        <p:spPr>
          <a:xfrm>
            <a:off x="7939080" y="524520"/>
            <a:ext cx="354600" cy="436320"/>
          </a:xfrm>
          <a:prstGeom prst="rect">
            <a:avLst/>
          </a:prstGeom>
          <a:ln w="19080">
            <a:noFill/>
          </a:ln>
        </p:spPr>
      </p:pic>
      <p:cxnSp>
        <p:nvCxnSpPr>
          <p:cNvPr id="149" name="Straight Connector 13"/>
          <p:cNvCxnSpPr/>
          <p:nvPr/>
        </p:nvCxnSpPr>
        <p:spPr>
          <a:xfrm>
            <a:off x="7856280" y="570600"/>
            <a:ext cx="360" cy="421560"/>
          </a:xfrm>
          <a:prstGeom prst="straightConnector1">
            <a:avLst/>
          </a:prstGeom>
          <a:ln w="22320" cap="rnd">
            <a:solidFill>
              <a:srgbClr val="C2C2C2"/>
            </a:solidFill>
            <a:custDash>
              <a:ds d="498387" sp="1000"/>
            </a:custDash>
            <a:miter/>
          </a:ln>
        </p:spPr>
      </p:cxnSp>
      <p:pic>
        <p:nvPicPr>
          <p:cNvPr id="150" name="Imagem 9" descr="Texto  Descrição gerada automaticamente com confiança baixa"/>
          <p:cNvPicPr/>
          <p:nvPr/>
        </p:nvPicPr>
        <p:blipFill>
          <a:blip r:embed="rId6"/>
          <a:stretch/>
        </p:blipFill>
        <p:spPr>
          <a:xfrm>
            <a:off x="8215920" y="393840"/>
            <a:ext cx="748440" cy="697680"/>
          </a:xfrm>
          <a:prstGeom prst="rect">
            <a:avLst/>
          </a:prstGeom>
          <a:ln w="19080">
            <a:noFill/>
          </a:ln>
        </p:spPr>
      </p:pic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24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60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angle 8"/>
          <p:cNvSpPr/>
          <p:nvPr/>
        </p:nvSpPr>
        <p:spPr>
          <a:xfrm>
            <a:off x="334800" y="343080"/>
            <a:ext cx="2777400" cy="71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549E3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Rectangle 9"/>
          <p:cNvSpPr/>
          <p:nvPr/>
        </p:nvSpPr>
        <p:spPr>
          <a:xfrm>
            <a:off x="6031440" y="340200"/>
            <a:ext cx="2777400" cy="738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2967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Rectangle 10"/>
          <p:cNvSpPr/>
          <p:nvPr/>
        </p:nvSpPr>
        <p:spPr>
          <a:xfrm>
            <a:off x="3181320" y="343080"/>
            <a:ext cx="2777400" cy="687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8AB8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179640" y="575640"/>
            <a:ext cx="1897200" cy="3344400"/>
          </a:xfrm>
          <a:prstGeom prst="rect">
            <a:avLst/>
          </a:prstGeom>
          <a:noFill/>
          <a:ln w="1908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6" name="Picture 3" descr="uerj-01.png"/>
          <p:cNvPicPr/>
          <p:nvPr/>
        </p:nvPicPr>
        <p:blipFill>
          <a:blip r:embed="rId3"/>
          <a:stretch/>
        </p:blipFill>
        <p:spPr>
          <a:xfrm>
            <a:off x="8246160" y="3735000"/>
            <a:ext cx="938880" cy="663120"/>
          </a:xfrm>
          <a:prstGeom prst="rect">
            <a:avLst/>
          </a:prstGeom>
          <a:ln w="19080">
            <a:noFill/>
          </a:ln>
        </p:spPr>
      </p:pic>
      <p:pic>
        <p:nvPicPr>
          <p:cNvPr id="177" name="Imagem 2" descr="Texto  Descrição gerada automaticamente com confiança média"/>
          <p:cNvPicPr/>
          <p:nvPr/>
        </p:nvPicPr>
        <p:blipFill>
          <a:blip r:embed="rId4"/>
          <a:stretch/>
        </p:blipFill>
        <p:spPr>
          <a:xfrm>
            <a:off x="8380800" y="4397760"/>
            <a:ext cx="690480" cy="682200"/>
          </a:xfrm>
          <a:prstGeom prst="rect">
            <a:avLst/>
          </a:prstGeom>
          <a:ln w="19080">
            <a:noFill/>
          </a:ln>
        </p:spPr>
      </p:pic>
      <p:pic>
        <p:nvPicPr>
          <p:cNvPr id="178" name="Picture 11" descr="logo_uerj_cor.png"/>
          <p:cNvPicPr/>
          <p:nvPr/>
        </p:nvPicPr>
        <p:blipFill>
          <a:blip r:embed="rId5"/>
          <a:stretch/>
        </p:blipFill>
        <p:spPr>
          <a:xfrm>
            <a:off x="7333920" y="534240"/>
            <a:ext cx="384120" cy="423000"/>
          </a:xfrm>
          <a:prstGeom prst="rect">
            <a:avLst/>
          </a:prstGeom>
          <a:ln w="19080">
            <a:noFill/>
          </a:ln>
        </p:spPr>
      </p:pic>
      <p:pic>
        <p:nvPicPr>
          <p:cNvPr id="179" name="Imagem 8" descr="Logotipo  Descrição gerada automaticamente"/>
          <p:cNvPicPr/>
          <p:nvPr/>
        </p:nvPicPr>
        <p:blipFill>
          <a:blip r:embed="rId6"/>
          <a:stretch/>
        </p:blipFill>
        <p:spPr>
          <a:xfrm>
            <a:off x="7939080" y="524520"/>
            <a:ext cx="354600" cy="436320"/>
          </a:xfrm>
          <a:prstGeom prst="rect">
            <a:avLst/>
          </a:prstGeom>
          <a:ln w="19080">
            <a:noFill/>
          </a:ln>
        </p:spPr>
      </p:pic>
      <p:cxnSp>
        <p:nvCxnSpPr>
          <p:cNvPr id="180" name="Straight Connector 13"/>
          <p:cNvCxnSpPr/>
          <p:nvPr/>
        </p:nvCxnSpPr>
        <p:spPr>
          <a:xfrm>
            <a:off x="7856280" y="570600"/>
            <a:ext cx="360" cy="421560"/>
          </a:xfrm>
          <a:prstGeom prst="straightConnector1">
            <a:avLst/>
          </a:prstGeom>
          <a:ln w="22320" cap="rnd">
            <a:solidFill>
              <a:srgbClr val="C2C2C2"/>
            </a:solidFill>
            <a:custDash>
              <a:ds d="498387" sp="1000"/>
            </a:custDash>
            <a:miter/>
          </a:ln>
        </p:spPr>
      </p:cxnSp>
      <p:pic>
        <p:nvPicPr>
          <p:cNvPr id="181" name="Imagem 12" descr="Texto  Descrição gerada automaticamente com confiança baixa"/>
          <p:cNvPicPr/>
          <p:nvPr/>
        </p:nvPicPr>
        <p:blipFill>
          <a:blip r:embed="rId7"/>
          <a:stretch/>
        </p:blipFill>
        <p:spPr>
          <a:xfrm>
            <a:off x="8215920" y="393840"/>
            <a:ext cx="748440" cy="697680"/>
          </a:xfrm>
          <a:prstGeom prst="rect">
            <a:avLst/>
          </a:prstGeom>
          <a:ln w="19080">
            <a:noFill/>
          </a:ln>
        </p:spPr>
      </p:pic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60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91">
            <a:extLst>
              <a:ext uri="{FF2B5EF4-FFF2-40B4-BE49-F238E27FC236}">
                <a16:creationId xmlns:a16="http://schemas.microsoft.com/office/drawing/2014/main" id="{BBECEEAB-4274-8939-F6E6-DA409B18444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64344" y="1228725"/>
            <a:ext cx="8586787" cy="1907381"/>
          </a:xfrm>
        </p:spPr>
        <p:txBody>
          <a:bodyPr anchorCtr="1">
            <a:noAutofit/>
          </a:bodyPr>
          <a:lstStyle/>
          <a:p>
            <a:pPr lvl="0" algn="ctr"/>
            <a:r>
              <a:rPr lang="pt-BR" sz="2400" dirty="0">
                <a:solidFill>
                  <a:srgbClr val="233028"/>
                </a:solidFill>
              </a:rPr>
              <a:t>Arquitetura de baixo custo para monitoramento preventivo do pé diabético: </a:t>
            </a:r>
            <a:r>
              <a:rPr lang="pt-BR" sz="2200" dirty="0">
                <a:solidFill>
                  <a:srgbClr val="233028"/>
                </a:solidFill>
              </a:rPr>
              <a:t>proposta de sistema com sensores e modelo preditivo baseado em Random Forest</a:t>
            </a:r>
            <a:endParaRPr lang="en-US" sz="2200" dirty="0">
              <a:solidFill>
                <a:srgbClr val="233028"/>
              </a:solidFill>
            </a:endParaRPr>
          </a:p>
        </p:txBody>
      </p:sp>
      <p:cxnSp>
        <p:nvCxnSpPr>
          <p:cNvPr id="3" name="Straight Connector 13">
            <a:extLst>
              <a:ext uri="{FF2B5EF4-FFF2-40B4-BE49-F238E27FC236}">
                <a16:creationId xmlns:a16="http://schemas.microsoft.com/office/drawing/2014/main" id="{387E3442-4E3C-4C18-81A0-6163D77BB7D3}"/>
              </a:ext>
            </a:extLst>
          </p:cNvPr>
          <p:cNvCxnSpPr/>
          <p:nvPr/>
        </p:nvCxnSpPr>
        <p:spPr>
          <a:xfrm flipV="1">
            <a:off x="2022040" y="2798539"/>
            <a:ext cx="5112684" cy="17849"/>
          </a:xfrm>
          <a:prstGeom prst="straightConnector1">
            <a:avLst/>
          </a:prstGeom>
          <a:noFill/>
          <a:ln w="22229" cap="rnd">
            <a:solidFill>
              <a:srgbClr val="C2C2C2"/>
            </a:solidFill>
            <a:custDash>
              <a:ds d="600000" sp="0"/>
            </a:custDash>
            <a:miter/>
          </a:ln>
        </p:spPr>
      </p:cxnSp>
      <p:sp>
        <p:nvSpPr>
          <p:cNvPr id="4" name="Shape 91">
            <a:extLst>
              <a:ext uri="{FF2B5EF4-FFF2-40B4-BE49-F238E27FC236}">
                <a16:creationId xmlns:a16="http://schemas.microsoft.com/office/drawing/2014/main" id="{DE28ED32-52D5-B505-026F-B3D518D5FD0D}"/>
              </a:ext>
            </a:extLst>
          </p:cNvPr>
          <p:cNvSpPr txBox="1"/>
          <p:nvPr/>
        </p:nvSpPr>
        <p:spPr>
          <a:xfrm>
            <a:off x="2814844" y="2898099"/>
            <a:ext cx="3617238" cy="49925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91421" rIns="91421" bIns="91421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600" b="1" u="none" strike="noStrike" kern="1200" cap="none" spc="0" baseline="0" dirty="0">
                <a:solidFill>
                  <a:srgbClr val="1B1810"/>
                </a:solidFill>
                <a:uFillTx/>
                <a:latin typeface="Nunito Sans"/>
                <a:ea typeface="Nunito Sans"/>
                <a:cs typeface="Nunito Sans"/>
              </a:rPr>
              <a:t>Chrysthian Chrisley</a:t>
            </a:r>
            <a:endParaRPr lang="en-US" sz="2000" b="1" u="none" strike="noStrike" kern="1200" cap="none" spc="0" baseline="0" dirty="0">
              <a:solidFill>
                <a:srgbClr val="1B1810"/>
              </a:solidFill>
              <a:uFillTx/>
              <a:latin typeface="Georgia"/>
              <a:ea typeface="Nunito Sans"/>
              <a:cs typeface="Georgia"/>
            </a:endParaRP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42E61774-7FE4-2D09-B5ED-E398D69B1452}"/>
              </a:ext>
            </a:extLst>
          </p:cNvPr>
          <p:cNvSpPr/>
          <p:nvPr/>
        </p:nvSpPr>
        <p:spPr>
          <a:xfrm>
            <a:off x="2814843" y="3517769"/>
            <a:ext cx="3825703" cy="30392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lvl="0" defTabSz="457200">
              <a:lnSpc>
                <a:spcPct val="15000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000" b="0" i="0" u="none" strike="noStrike" kern="1200" cap="none" spc="-30" baseline="0" dirty="0">
                <a:solidFill>
                  <a:srgbClr val="000000"/>
                </a:solidFill>
                <a:uFillTx/>
                <a:latin typeface="Nunito sans"/>
                <a:cs typeface="Nunito sans"/>
              </a:rPr>
              <a:t>Orientador: </a:t>
            </a:r>
            <a:r>
              <a:rPr lang="pt-BR" sz="1000" b="1" i="0" u="none" strike="noStrike" kern="1200" cap="none" spc="-30" baseline="0" dirty="0">
                <a:solidFill>
                  <a:srgbClr val="000000"/>
                </a:solidFill>
                <a:uFillTx/>
                <a:latin typeface="Nunito sans"/>
                <a:cs typeface="Nunito sans"/>
              </a:rPr>
              <a:t>Prof.</a:t>
            </a:r>
            <a:r>
              <a:rPr lang="pt-BR" sz="1000" b="1" i="0" u="none" strike="noStrike" kern="1200" cap="none" spc="-30" baseline="30000" dirty="0">
                <a:solidFill>
                  <a:srgbClr val="000000"/>
                </a:solidFill>
                <a:uFillTx/>
                <a:latin typeface="Nunito sans"/>
                <a:cs typeface="Nunito sans"/>
              </a:rPr>
              <a:t> </a:t>
            </a:r>
            <a:r>
              <a:rPr lang="pt-BR" sz="1000" b="1" spc="-30" dirty="0">
                <a:solidFill>
                  <a:srgbClr val="000000"/>
                </a:solidFill>
                <a:latin typeface="Nunito sans"/>
                <a:cs typeface="Nunito sans"/>
              </a:rPr>
              <a:t>Dra. Rosa Maria Esteves Moreira da Costa</a:t>
            </a:r>
            <a:endParaRPr lang="pt-BR" sz="1000" b="1" i="0" u="none" strike="noStrike" kern="1200" cap="none" spc="-30" baseline="0" dirty="0">
              <a:solidFill>
                <a:srgbClr val="000000"/>
              </a:solidFill>
              <a:uFillTx/>
              <a:latin typeface="Nunito sans"/>
              <a:cs typeface="Nunito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89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SecaoTitulo"/>
          <p:cNvSpPr txBox="1"/>
          <p:nvPr/>
        </p:nvSpPr>
        <p:spPr>
          <a:xfrm>
            <a:off x="366840" y="613800"/>
            <a:ext cx="4200000" cy="9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3200" b="1" strike="noStrike" spc="-1" dirty="0">
                <a:solidFill>
                  <a:srgbClr val="688A26"/>
                </a:solidFill>
                <a:latin typeface="Aptos"/>
              </a:rPr>
              <a:t>1. </a:t>
            </a:r>
            <a:r>
              <a:rPr lang="pt-BR" sz="2000" b="1" strike="noStrike" cap="all" spc="-1" dirty="0">
                <a:solidFill>
                  <a:srgbClr val="233028"/>
                </a:solidFill>
                <a:latin typeface="Gill Sans MT"/>
              </a:rPr>
              <a:t>Introdução</a:t>
            </a:r>
          </a:p>
        </p:txBody>
      </p:sp>
      <p:sp>
        <p:nvSpPr>
          <p:cNvPr id="301" name="TituloSlide"/>
          <p:cNvSpPr txBox="1"/>
          <p:nvPr/>
        </p:nvSpPr>
        <p:spPr>
          <a:xfrm>
            <a:off x="366840" y="1580000"/>
            <a:ext cx="8300000" cy="560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pt-BR" sz="1900" b="1" strike="noStrike" spc="-1">
                <a:solidFill>
                  <a:srgbClr val="233028"/>
                </a:solidFill>
                <a:latin typeface="Gill Sans MT"/>
              </a:rPr>
              <a:t>Amputações por diabetes no Brasil: uma tragédia em crescimento contínuo</a:t>
            </a:r>
          </a:p>
        </p:txBody>
      </p:sp>
      <p:sp>
        <p:nvSpPr>
          <p:cNvPr id="302" name="DestaqueBox"/>
          <p:cNvSpPr txBox="1"/>
          <p:nvPr/>
        </p:nvSpPr>
        <p:spPr>
          <a:xfrm>
            <a:off x="366840" y="2220000"/>
            <a:ext cx="2000000" cy="1100000"/>
          </a:xfrm>
          <a:prstGeom prst="rect">
            <a:avLst/>
          </a:prstGeom>
          <a:solidFill>
            <a:srgbClr val="233028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pt-BR" sz="3600" b="1" strike="noStrike" spc="-1" dirty="0">
                <a:solidFill>
                  <a:srgbClr val="8AB833"/>
                </a:solidFill>
                <a:latin typeface="Gill Sans MT"/>
              </a:rPr>
              <a:t>+65%</a:t>
            </a:r>
          </a:p>
          <a:p>
            <a:pPr algn="ctr">
              <a:lnSpc>
                <a:spcPct val="100000"/>
              </a:lnSpc>
            </a:pPr>
            <a:r>
              <a:rPr lang="pt-BR" sz="1100" b="0" strike="noStrike" spc="-1" dirty="0">
                <a:solidFill>
                  <a:srgbClr val="FFFFFF"/>
                </a:solidFill>
                <a:latin typeface="Arial"/>
              </a:rPr>
              <a:t>em 10 anos</a:t>
            </a:r>
          </a:p>
        </p:txBody>
      </p:sp>
      <p:sp>
        <p:nvSpPr>
          <p:cNvPr id="504" name="FraseImpacto"/>
          <p:cNvSpPr txBox="1"/>
          <p:nvPr/>
        </p:nvSpPr>
        <p:spPr>
          <a:xfrm>
            <a:off x="366840" y="3420000"/>
            <a:ext cx="2100000" cy="1200000"/>
          </a:xfrm>
          <a:prstGeom prst="rect">
            <a:avLst/>
          </a:prstGeom>
          <a:noFill/>
          <a:ln w="0">
            <a:noFill/>
          </a:ln>
        </p:spPr>
        <p:txBody>
          <a:bodyPr lIns="0" tIns="91440" rIns="91440" bIns="9144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lang="pt-BR" sz="1100" b="0" i="1" strike="noStrike" spc="-1" dirty="0">
                <a:solidFill>
                  <a:srgbClr val="595959"/>
                </a:solidFill>
                <a:latin typeface="Arial"/>
              </a:rPr>
              <a:t>“A maioria dessas amputações foi precedida por uma úlcera que poderia ter sido prevenida.”</a:t>
            </a:r>
          </a:p>
          <a:p>
            <a:pPr algn="ctr">
              <a:lnSpc>
                <a:spcPct val="100000"/>
              </a:lnSpc>
            </a:pPr>
            <a:r>
              <a:rPr lang="pt-BR" sz="800" b="1" strike="noStrike" spc="-1" dirty="0">
                <a:solidFill>
                  <a:srgbClr val="8AB833"/>
                </a:solidFill>
                <a:latin typeface="Arial"/>
              </a:rPr>
              <a:t>KOSAJI et al., 2025</a:t>
            </a:r>
          </a:p>
        </p:txBody>
      </p:sp>
      <p:sp>
        <p:nvSpPr>
          <p:cNvPr id="399" name="LinhaBase"/>
          <p:cNvSpPr>
            <a:spLocks noGrp="1"/>
          </p:cNvSpPr>
          <p:nvPr/>
        </p:nvSpPr>
        <p:spPr>
          <a:xfrm>
            <a:off x="2620000" y="4700000"/>
            <a:ext cx="6100000" cy="25000"/>
          </a:xfrm>
          <a:prstGeom prst="rect">
            <a:avLst/>
          </a:prstGeom>
          <a:solidFill>
            <a:srgbClr val="595959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00" name="Bar2012"/>
          <p:cNvSpPr>
            <a:spLocks noGrp="1"/>
          </p:cNvSpPr>
          <p:nvPr/>
        </p:nvSpPr>
        <p:spPr>
          <a:xfrm>
            <a:off x="2630000" y="3550000"/>
            <a:ext cx="400000" cy="1150000"/>
          </a:xfrm>
          <a:prstGeom prst="rect">
            <a:avLst/>
          </a:prstGeom>
          <a:solidFill>
            <a:srgbClr val="8AB833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01" name="Bar2013"/>
          <p:cNvSpPr>
            <a:spLocks noGrp="1"/>
          </p:cNvSpPr>
          <p:nvPr/>
        </p:nvSpPr>
        <p:spPr>
          <a:xfrm>
            <a:off x="3180000" y="3496000"/>
            <a:ext cx="400000" cy="1204000"/>
          </a:xfrm>
          <a:prstGeom prst="rect">
            <a:avLst/>
          </a:prstGeom>
          <a:solidFill>
            <a:srgbClr val="8AB833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02" name="Bar2014"/>
          <p:cNvSpPr>
            <a:spLocks noGrp="1"/>
          </p:cNvSpPr>
          <p:nvPr/>
        </p:nvSpPr>
        <p:spPr>
          <a:xfrm>
            <a:off x="3730000" y="3445000"/>
            <a:ext cx="400000" cy="1255000"/>
          </a:xfrm>
          <a:prstGeom prst="rect">
            <a:avLst/>
          </a:prstGeom>
          <a:solidFill>
            <a:srgbClr val="8AB833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03" name="Bar2015"/>
          <p:cNvSpPr>
            <a:spLocks noGrp="1"/>
          </p:cNvSpPr>
          <p:nvPr/>
        </p:nvSpPr>
        <p:spPr>
          <a:xfrm>
            <a:off x="4280000" y="3372000"/>
            <a:ext cx="400000" cy="1328000"/>
          </a:xfrm>
          <a:prstGeom prst="rect">
            <a:avLst/>
          </a:prstGeom>
          <a:solidFill>
            <a:srgbClr val="8AB833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04" name="Bar2016"/>
          <p:cNvSpPr>
            <a:spLocks noGrp="1"/>
          </p:cNvSpPr>
          <p:nvPr/>
        </p:nvSpPr>
        <p:spPr>
          <a:xfrm>
            <a:off x="4830000" y="3290000"/>
            <a:ext cx="400000" cy="1410000"/>
          </a:xfrm>
          <a:prstGeom prst="rect">
            <a:avLst/>
          </a:prstGeom>
          <a:solidFill>
            <a:srgbClr val="8AB833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05" name="Bar2017"/>
          <p:cNvSpPr>
            <a:spLocks noGrp="1"/>
          </p:cNvSpPr>
          <p:nvPr/>
        </p:nvSpPr>
        <p:spPr>
          <a:xfrm>
            <a:off x="5380000" y="3227000"/>
            <a:ext cx="400000" cy="1473000"/>
          </a:xfrm>
          <a:prstGeom prst="rect">
            <a:avLst/>
          </a:prstGeom>
          <a:solidFill>
            <a:srgbClr val="8AB833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06" name="Bar2018"/>
          <p:cNvSpPr>
            <a:spLocks noGrp="1"/>
          </p:cNvSpPr>
          <p:nvPr/>
        </p:nvSpPr>
        <p:spPr>
          <a:xfrm>
            <a:off x="5930000" y="3105000"/>
            <a:ext cx="400000" cy="1595000"/>
          </a:xfrm>
          <a:prstGeom prst="rect">
            <a:avLst/>
          </a:prstGeom>
          <a:solidFill>
            <a:srgbClr val="8AB833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07" name="Bar2019"/>
          <p:cNvSpPr>
            <a:spLocks noGrp="1"/>
          </p:cNvSpPr>
          <p:nvPr/>
        </p:nvSpPr>
        <p:spPr>
          <a:xfrm>
            <a:off x="6480000" y="3047000"/>
            <a:ext cx="400000" cy="1653000"/>
          </a:xfrm>
          <a:prstGeom prst="rect">
            <a:avLst/>
          </a:prstGeom>
          <a:solidFill>
            <a:srgbClr val="8AB833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08" name="Bar2020"/>
          <p:cNvSpPr>
            <a:spLocks noGrp="1"/>
          </p:cNvSpPr>
          <p:nvPr/>
        </p:nvSpPr>
        <p:spPr>
          <a:xfrm>
            <a:off x="7030000" y="3021000"/>
            <a:ext cx="400000" cy="1679000"/>
          </a:xfrm>
          <a:prstGeom prst="rect">
            <a:avLst/>
          </a:prstGeom>
          <a:solidFill>
            <a:srgbClr val="8AB833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09" name="Bar2021"/>
          <p:cNvSpPr>
            <a:spLocks noGrp="1"/>
          </p:cNvSpPr>
          <p:nvPr/>
        </p:nvSpPr>
        <p:spPr>
          <a:xfrm>
            <a:off x="7580000" y="2927000"/>
            <a:ext cx="400000" cy="1773000"/>
          </a:xfrm>
          <a:prstGeom prst="rect">
            <a:avLst/>
          </a:prstGeom>
          <a:solidFill>
            <a:srgbClr val="8AB833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10" name="Bar2022"/>
          <p:cNvSpPr>
            <a:spLocks noGrp="1"/>
          </p:cNvSpPr>
          <p:nvPr/>
        </p:nvSpPr>
        <p:spPr>
          <a:xfrm>
            <a:off x="8130000" y="2800000"/>
            <a:ext cx="400000" cy="190000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" name="Label2022"/>
          <p:cNvSpPr txBox="1"/>
          <p:nvPr/>
        </p:nvSpPr>
        <p:spPr>
          <a:xfrm>
            <a:off x="7980000" y="2532456"/>
            <a:ext cx="797160" cy="2855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pt-BR" sz="2000" b="1" strike="noStrike" spc="-1" dirty="0">
                <a:latin typeface="Arial"/>
              </a:rPr>
              <a:t>85</a:t>
            </a:r>
          </a:p>
        </p:txBody>
      </p:sp>
      <p:sp>
        <p:nvSpPr>
          <p:cNvPr id="502" name="Label2012"/>
          <p:cNvSpPr txBox="1"/>
          <p:nvPr/>
        </p:nvSpPr>
        <p:spPr>
          <a:xfrm>
            <a:off x="2480509" y="3227000"/>
            <a:ext cx="698981" cy="335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pt-BR" sz="1600" b="1" strike="noStrike" spc="-1" dirty="0">
                <a:solidFill>
                  <a:srgbClr val="595959"/>
                </a:solidFill>
                <a:latin typeface="Arial"/>
              </a:rPr>
              <a:t>52</a:t>
            </a:r>
          </a:p>
        </p:txBody>
      </p:sp>
      <p:sp>
        <p:nvSpPr>
          <p:cNvPr id="500" name="LabelsAnos"/>
          <p:cNvSpPr txBox="1"/>
          <p:nvPr/>
        </p:nvSpPr>
        <p:spPr>
          <a:xfrm>
            <a:off x="2580000" y="4730000"/>
            <a:ext cx="6050000" cy="2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pt-BR" sz="700" b="0" strike="noStrike" spc="-1" dirty="0">
                <a:solidFill>
                  <a:srgbClr val="595959"/>
                </a:solidFill>
                <a:latin typeface="Arial"/>
              </a:rPr>
              <a:t>2012                2013               2014              2015              2016               2017             2018               2019             2020              2021              2022</a:t>
            </a:r>
          </a:p>
        </p:txBody>
      </p:sp>
      <p:sp>
        <p:nvSpPr>
          <p:cNvPr id="503" name="Fonte"/>
          <p:cNvSpPr txBox="1"/>
          <p:nvPr/>
        </p:nvSpPr>
        <p:spPr>
          <a:xfrm>
            <a:off x="2580000" y="4930000"/>
            <a:ext cx="6100000" cy="17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pt-BR" sz="800" b="0" i="1" strike="noStrike" spc="-1" dirty="0">
                <a:solidFill>
                  <a:srgbClr val="999999"/>
                </a:solidFill>
                <a:latin typeface="Arial"/>
              </a:rPr>
              <a:t>Fonte: SBACV, 2023. Amputações de membros inferiores no SUS (2012-2022).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SecaoTitulo"/>
          <p:cNvSpPr txBox="1"/>
          <p:nvPr/>
        </p:nvSpPr>
        <p:spPr>
          <a:xfrm>
            <a:off x="366840" y="613800"/>
            <a:ext cx="4572000" cy="10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000" b="1" strike="noStrike" spc="-1" dirty="0">
                <a:solidFill>
                  <a:srgbClr val="688A26"/>
                </a:solidFill>
                <a:latin typeface="Aptos"/>
              </a:rPr>
              <a:t>2. </a:t>
            </a:r>
            <a:r>
              <a:rPr lang="pt-BR" sz="2300" b="1" strike="noStrike" cap="all" spc="-1" dirty="0">
                <a:solidFill>
                  <a:srgbClr val="233028"/>
                </a:solidFill>
                <a:latin typeface="Gill Sans MT"/>
              </a:rPr>
              <a:t>Objetivo Geral</a:t>
            </a:r>
          </a:p>
        </p:txBody>
      </p:sp>
      <p:sp>
        <p:nvSpPr>
          <p:cNvPr id="229" name="ObjetivoGeral"/>
          <p:cNvSpPr txBox="1"/>
          <p:nvPr/>
        </p:nvSpPr>
        <p:spPr>
          <a:xfrm>
            <a:off x="872280" y="1812000"/>
            <a:ext cx="7399440" cy="2000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lang="pt-BR" sz="1700" b="0" strike="noStrike" spc="-1" dirty="0">
                <a:latin typeface="Arial"/>
              </a:rPr>
              <a:t>Projetar e propor um sistema de monitoramento preventivo de úlceras do pé diabético.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89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SecaoTitulo"/>
          <p:cNvSpPr txBox="1"/>
          <p:nvPr/>
        </p:nvSpPr>
        <p:spPr>
          <a:xfrm>
            <a:off x="366840" y="613800"/>
            <a:ext cx="4572000" cy="10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000" b="1" i="0" u="none" strike="noStrike" kern="1200" cap="none" spc="-1" normalizeH="0" baseline="0" noProof="0" dirty="0">
                <a:ln>
                  <a:noFill/>
                </a:ln>
                <a:solidFill>
                  <a:srgbClr val="688A26"/>
                </a:solidFill>
                <a:effectLst/>
                <a:uLnTx/>
                <a:uFillTx/>
                <a:latin typeface="Aptos"/>
              </a:rPr>
              <a:t>3. </a:t>
            </a:r>
            <a:r>
              <a:rPr kumimoji="0" lang="pt-BR" sz="2300" b="1" i="0" u="none" strike="noStrike" kern="1200" cap="all" spc="-1" normalizeH="0" baseline="0" noProof="0" dirty="0">
                <a:ln>
                  <a:noFill/>
                </a:ln>
                <a:solidFill>
                  <a:srgbClr val="233028"/>
                </a:solidFill>
                <a:effectLst/>
                <a:uLnTx/>
                <a:uFillTx/>
                <a:latin typeface="Gill Sans MT"/>
              </a:rPr>
              <a:t>Objetivos Específicos</a:t>
            </a:r>
          </a:p>
        </p:txBody>
      </p:sp>
      <p:sp>
        <p:nvSpPr>
          <p:cNvPr id="232" name="ObjetivosEspecificos"/>
          <p:cNvSpPr txBox="1"/>
          <p:nvPr/>
        </p:nvSpPr>
        <p:spPr>
          <a:xfrm>
            <a:off x="571412" y="1675800"/>
            <a:ext cx="7800000" cy="3200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8AB833"/>
              </a:buClr>
              <a:buSzTx/>
              <a:buFont typeface="OpenSymbol"/>
              <a:buAutoNum type="arabicPeriod"/>
              <a:tabLst/>
              <a:defRPr/>
            </a:pPr>
            <a:r>
              <a:rPr kumimoji="0" lang="pt-BR" sz="1700" b="1" i="0" u="none" strike="noStrike" kern="1200" cap="none" spc="-1" normalizeH="0" baseline="0" noProof="0" dirty="0">
                <a:ln>
                  <a:noFill/>
                </a:ln>
                <a:solidFill>
                  <a:srgbClr val="233028"/>
                </a:solidFill>
                <a:effectLst/>
                <a:uLnTx/>
                <a:uFillTx/>
                <a:latin typeface="Aptos"/>
              </a:rPr>
              <a:t>Palmilha instrumentada</a:t>
            </a:r>
            <a:r>
              <a:rPr kumimoji="0" lang="pt-BR" sz="1700" b="0" i="0" u="none" strike="noStrike" kern="1200" cap="none" spc="-1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ptos"/>
              </a:rPr>
              <a:t> - </a:t>
            </a:r>
            <a:r>
              <a:rPr lang="pt-BR" sz="1700" spc="-1" dirty="0">
                <a:solidFill>
                  <a:srgbClr val="595959"/>
                </a:solidFill>
                <a:latin typeface="Aptos"/>
              </a:rPr>
              <a:t>P</a:t>
            </a:r>
            <a:r>
              <a:rPr kumimoji="0" lang="pt-BR" sz="1700" b="0" i="0" u="none" strike="noStrike" kern="1200" cap="none" spc="-1" normalizeH="0" baseline="0" noProof="0" dirty="0" err="1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ptos"/>
              </a:rPr>
              <a:t>rotótipo</a:t>
            </a:r>
            <a:r>
              <a:rPr kumimoji="0" lang="pt-BR" sz="1700" b="0" i="0" u="none" strike="noStrike" kern="1200" cap="none" spc="-1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ptos"/>
              </a:rPr>
              <a:t> com sensores de pressão, temperatura e umidade, integrados ao microcontrolador ESP32 com transmissão via Bluetooth.</a:t>
            </a: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8AB833"/>
              </a:buClr>
              <a:buSzTx/>
              <a:buFont typeface="OpenSymbol"/>
              <a:buAutoNum type="arabicPeriod"/>
              <a:tabLst/>
              <a:defRPr/>
            </a:pPr>
            <a:endParaRPr kumimoji="0" lang="pt-BR" sz="1700" b="0" i="0" u="none" strike="noStrike" kern="1200" cap="none" spc="-1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ptos"/>
            </a:endParaRPr>
          </a:p>
          <a:p>
            <a:pPr marL="0" marR="0" lvl="0" indent="0" algn="l" defTabSz="914400" rtl="0" eaLnBrk="1" fontAlgn="auto" latinLnBrk="0" hangingPunct="1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</a:rPr>
              <a:t> 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8AB833"/>
              </a:buClr>
              <a:buSzTx/>
              <a:buFont typeface="OpenSymbol"/>
              <a:buAutoNum type="arabicPeriod" startAt="2"/>
              <a:tabLst/>
              <a:defRPr/>
            </a:pPr>
            <a:r>
              <a:rPr kumimoji="0" lang="pt-BR" sz="1700" b="1" i="0" u="none" strike="noStrike" kern="1200" cap="none" spc="-1" normalizeH="0" baseline="0" noProof="0" dirty="0">
                <a:ln>
                  <a:noFill/>
                </a:ln>
                <a:solidFill>
                  <a:srgbClr val="233028"/>
                </a:solidFill>
                <a:effectLst/>
                <a:uLnTx/>
                <a:uFillTx/>
                <a:latin typeface="Aptos"/>
              </a:rPr>
              <a:t>Aplicativo móvel</a:t>
            </a:r>
            <a:r>
              <a:rPr kumimoji="0" lang="pt-BR" sz="1700" b="0" i="0" u="none" strike="noStrike" kern="1200" cap="none" spc="-1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ptos"/>
              </a:rPr>
              <a:t> - Interface em HTML5 para recepção, visualização em tempo real e geração de alertas a partir dos dados coletados pela palmilha.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8AB833"/>
              </a:buClr>
              <a:buSzTx/>
              <a:buFont typeface="OpenSymbol"/>
              <a:buAutoNum type="arabicPeriod" startAt="2"/>
              <a:tabLst/>
              <a:defRPr/>
            </a:pPr>
            <a:endParaRPr kumimoji="0" lang="pt-BR" sz="1700" b="0" i="0" u="none" strike="noStrike" kern="1200" cap="none" spc="-1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ptos"/>
            </a:endParaRPr>
          </a:p>
          <a:p>
            <a:pPr marL="0" marR="0" lvl="0" indent="0" algn="l" defTabSz="914400" rtl="0" eaLnBrk="1" fontAlgn="auto" latinLnBrk="0" hangingPunct="1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</a:rPr>
              <a:t> 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B833"/>
              </a:buClr>
              <a:buSzTx/>
              <a:buFont typeface="OpenSymbol"/>
              <a:buAutoNum type="arabicPeriod" startAt="3"/>
              <a:tabLst/>
              <a:defRPr/>
            </a:pPr>
            <a:r>
              <a:rPr kumimoji="0" lang="pt-BR" sz="1700" b="1" i="0" u="none" strike="noStrike" kern="1200" cap="none" spc="-1" normalizeH="0" baseline="0" noProof="0" dirty="0">
                <a:ln>
                  <a:noFill/>
                </a:ln>
                <a:solidFill>
                  <a:srgbClr val="233028"/>
                </a:solidFill>
                <a:effectLst/>
                <a:uLnTx/>
                <a:uFillTx/>
                <a:latin typeface="Aptos"/>
              </a:rPr>
              <a:t>Modelo preditivo</a:t>
            </a:r>
            <a:r>
              <a:rPr kumimoji="0" lang="pt-BR" sz="1700" b="0" i="0" u="none" strike="noStrike" kern="1200" cap="none" spc="-1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ptos"/>
              </a:rPr>
              <a:t> - Propor um classificador de risco de ulceração baseado no algoritmo Random Forest</a:t>
            </a:r>
            <a:r>
              <a:rPr lang="pt-BR" sz="1700" spc="-1" dirty="0">
                <a:solidFill>
                  <a:srgbClr val="595959"/>
                </a:solidFill>
                <a:latin typeface="Aptos"/>
              </a:rPr>
              <a:t>.</a:t>
            </a:r>
            <a:endParaRPr kumimoji="0" lang="pt-BR" sz="1700" b="0" i="0" u="none" strike="noStrike" kern="1200" cap="none" spc="-1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pto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SecaoTitulo"/>
          <p:cNvSpPr txBox="1"/>
          <p:nvPr/>
        </p:nvSpPr>
        <p:spPr>
          <a:xfrm>
            <a:off x="366840" y="613800"/>
            <a:ext cx="4572000" cy="10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000" b="1" strike="noStrike" spc="-1" dirty="0">
                <a:solidFill>
                  <a:srgbClr val="688A26"/>
                </a:solidFill>
                <a:latin typeface="Aptos"/>
              </a:rPr>
              <a:t>4. </a:t>
            </a:r>
            <a:r>
              <a:rPr lang="pt-BR" sz="2300" b="1" strike="noStrike" cap="all" spc="-1" dirty="0">
                <a:solidFill>
                  <a:srgbClr val="233028"/>
                </a:solidFill>
                <a:latin typeface="Gill Sans MT"/>
              </a:rPr>
              <a:t>Material e Método</a:t>
            </a:r>
          </a:p>
        </p:txBody>
      </p:sp>
      <p:sp>
        <p:nvSpPr>
          <p:cNvPr id="301" name="LabelHW"/>
          <p:cNvSpPr txBox="1"/>
          <p:nvPr/>
        </p:nvSpPr>
        <p:spPr>
          <a:xfrm>
            <a:off x="366840" y="1650000"/>
            <a:ext cx="3900000" cy="340000"/>
          </a:xfrm>
          <a:prstGeom prst="rect">
            <a:avLst/>
          </a:prstGeom>
          <a:solidFill>
            <a:schemeClr val="bg2"/>
          </a:solidFill>
          <a:ln w="0">
            <a:noFill/>
          </a:ln>
        </p:spPr>
        <p:txBody>
          <a:bodyPr lIns="182880" tIns="45720" rIns="91440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pt-BR" sz="1400" b="1" strike="noStrike" spc="-1" dirty="0">
                <a:solidFill>
                  <a:srgbClr val="8AB833"/>
                </a:solidFill>
                <a:latin typeface="Gill Sans MT"/>
              </a:rPr>
              <a:t>■  </a:t>
            </a:r>
            <a:r>
              <a:rPr lang="pt-BR" sz="1400" b="1" strike="noStrike" spc="-1" dirty="0">
                <a:latin typeface="Gill Sans MT"/>
              </a:rPr>
              <a:t>HARDWARE</a:t>
            </a:r>
          </a:p>
        </p:txBody>
      </p:sp>
      <p:sp>
        <p:nvSpPr>
          <p:cNvPr id="302" name="ConteudoHW"/>
          <p:cNvSpPr txBox="1"/>
          <p:nvPr/>
        </p:nvSpPr>
        <p:spPr>
          <a:xfrm>
            <a:off x="366840" y="2030000"/>
            <a:ext cx="7877048" cy="2750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342900" indent="-342900">
              <a:lnSpc>
                <a:spcPct val="100000"/>
              </a:lnSpc>
              <a:spcAft>
                <a:spcPts val="400"/>
              </a:spcAft>
              <a:buClr>
                <a:srgbClr val="8AB833"/>
              </a:buClr>
              <a:buFont typeface="Arial"/>
              <a:buChar char="●"/>
            </a:pPr>
            <a:r>
              <a:rPr lang="pt-BR" sz="1350" b="1" strike="noStrike" spc="-1" dirty="0">
                <a:solidFill>
                  <a:srgbClr val="233028"/>
                </a:solidFill>
                <a:latin typeface="Aptos"/>
              </a:rPr>
              <a:t>3 sensores FSR 402</a:t>
            </a:r>
            <a:r>
              <a:rPr lang="pt-BR" sz="1350" b="0" strike="noStrike" spc="-1" dirty="0">
                <a:solidFill>
                  <a:srgbClr val="595959"/>
                </a:solidFill>
                <a:latin typeface="Aptos"/>
              </a:rPr>
              <a:t> - pressão plantar nos pontos de maior risco (1º e 5º metatarso e calcâneo)</a:t>
            </a:r>
          </a:p>
          <a:p>
            <a:pPr marL="342900" indent="-342900">
              <a:lnSpc>
                <a:spcPct val="100000"/>
              </a:lnSpc>
              <a:spcAft>
                <a:spcPts val="400"/>
              </a:spcAft>
              <a:buClr>
                <a:srgbClr val="8AB833"/>
              </a:buClr>
              <a:buFont typeface="Arial"/>
              <a:buChar char="●"/>
            </a:pPr>
            <a:endParaRPr lang="pt-BR" sz="1350" b="0" strike="noStrike" spc="-1" dirty="0">
              <a:solidFill>
                <a:srgbClr val="595959"/>
              </a:solidFill>
              <a:latin typeface="Aptos"/>
            </a:endParaRPr>
          </a:p>
          <a:p>
            <a:pPr marL="342900" indent="-342900">
              <a:lnSpc>
                <a:spcPct val="100000"/>
              </a:lnSpc>
              <a:spcAft>
                <a:spcPts val="400"/>
              </a:spcAft>
              <a:buClr>
                <a:srgbClr val="8AB833"/>
              </a:buClr>
              <a:buFont typeface="Arial"/>
              <a:buChar char="●"/>
            </a:pPr>
            <a:endParaRPr lang="pt-BR" sz="1350" b="1" strike="noStrike" spc="-1" dirty="0">
              <a:solidFill>
                <a:srgbClr val="233028"/>
              </a:solidFill>
              <a:latin typeface="Aptos"/>
            </a:endParaRPr>
          </a:p>
          <a:p>
            <a:pPr marL="342900" indent="-342900">
              <a:lnSpc>
                <a:spcPct val="100000"/>
              </a:lnSpc>
              <a:spcAft>
                <a:spcPts val="400"/>
              </a:spcAft>
              <a:buClr>
                <a:srgbClr val="8AB833"/>
              </a:buClr>
              <a:buFont typeface="Arial"/>
              <a:buChar char="●"/>
            </a:pPr>
            <a:r>
              <a:rPr lang="pt-BR" sz="1350" b="1" strike="noStrike" spc="-1" dirty="0">
                <a:solidFill>
                  <a:srgbClr val="233028"/>
                </a:solidFill>
                <a:latin typeface="Aptos"/>
              </a:rPr>
              <a:t>Sensor DHT22</a:t>
            </a:r>
            <a:r>
              <a:rPr lang="pt-BR" sz="1350" b="0" strike="noStrike" spc="-1" dirty="0">
                <a:solidFill>
                  <a:srgbClr val="595959"/>
                </a:solidFill>
                <a:latin typeface="Aptos"/>
              </a:rPr>
              <a:t> - temperatura e umidade no interior do calçado</a:t>
            </a:r>
          </a:p>
          <a:p>
            <a:pPr marL="342900" indent="-342900">
              <a:lnSpc>
                <a:spcPct val="100000"/>
              </a:lnSpc>
              <a:spcAft>
                <a:spcPts val="400"/>
              </a:spcAft>
              <a:buClr>
                <a:srgbClr val="8AB833"/>
              </a:buClr>
              <a:buFont typeface="Arial"/>
              <a:buChar char="●"/>
            </a:pPr>
            <a:endParaRPr lang="pt-BR" sz="1350" b="1" strike="noStrike" spc="-1" dirty="0">
              <a:solidFill>
                <a:srgbClr val="233028"/>
              </a:solidFill>
              <a:latin typeface="Aptos"/>
            </a:endParaRPr>
          </a:p>
          <a:p>
            <a:pPr marL="342900" indent="-342900">
              <a:lnSpc>
                <a:spcPct val="100000"/>
              </a:lnSpc>
              <a:spcAft>
                <a:spcPts val="400"/>
              </a:spcAft>
              <a:buClr>
                <a:srgbClr val="8AB833"/>
              </a:buClr>
              <a:buFont typeface="Arial"/>
              <a:buChar char="●"/>
            </a:pPr>
            <a:endParaRPr lang="pt-BR" sz="1350" b="1" strike="noStrike" spc="-1" dirty="0">
              <a:solidFill>
                <a:srgbClr val="233028"/>
              </a:solidFill>
              <a:latin typeface="Aptos"/>
            </a:endParaRPr>
          </a:p>
          <a:p>
            <a:pPr marL="342900" indent="-342900">
              <a:lnSpc>
                <a:spcPct val="100000"/>
              </a:lnSpc>
              <a:spcAft>
                <a:spcPts val="400"/>
              </a:spcAft>
              <a:buClr>
                <a:srgbClr val="8AB833"/>
              </a:buClr>
              <a:buFont typeface="Arial"/>
              <a:buChar char="●"/>
            </a:pPr>
            <a:r>
              <a:rPr lang="pt-BR" sz="1350" b="1" strike="noStrike" spc="-1" dirty="0">
                <a:solidFill>
                  <a:srgbClr val="233028"/>
                </a:solidFill>
                <a:latin typeface="Aptos"/>
              </a:rPr>
              <a:t>Microcontrolador ESP32</a:t>
            </a:r>
            <a:r>
              <a:rPr lang="pt-BR" sz="1350" b="0" strike="noStrike" spc="-1" dirty="0">
                <a:solidFill>
                  <a:srgbClr val="595959"/>
                </a:solidFill>
                <a:latin typeface="Aptos"/>
              </a:rPr>
              <a:t> - processamento e transmissão via Bluetooth </a:t>
            </a:r>
            <a:r>
              <a:rPr lang="pt-BR" sz="1350" b="0" strike="noStrike" spc="-1" dirty="0" err="1">
                <a:solidFill>
                  <a:srgbClr val="595959"/>
                </a:solidFill>
                <a:latin typeface="Aptos"/>
              </a:rPr>
              <a:t>Low</a:t>
            </a:r>
            <a:r>
              <a:rPr lang="pt-BR" sz="1350" b="0" strike="noStrike" spc="-1" dirty="0">
                <a:solidFill>
                  <a:srgbClr val="595959"/>
                </a:solidFill>
                <a:latin typeface="Aptos"/>
              </a:rPr>
              <a:t> Energy (BLE)</a:t>
            </a:r>
          </a:p>
          <a:p>
            <a:pPr marL="342900" indent="-342900">
              <a:lnSpc>
                <a:spcPct val="100000"/>
              </a:lnSpc>
              <a:buClr>
                <a:srgbClr val="8AB833"/>
              </a:buClr>
              <a:buFont typeface="Arial"/>
              <a:buChar char="●"/>
            </a:pPr>
            <a:endParaRPr lang="pt-BR" sz="1350" b="1" strike="noStrike" spc="-1" dirty="0">
              <a:solidFill>
                <a:srgbClr val="233028"/>
              </a:solidFill>
              <a:latin typeface="Aptos"/>
            </a:endParaRPr>
          </a:p>
          <a:p>
            <a:pPr marL="342900" indent="-342900">
              <a:lnSpc>
                <a:spcPct val="100000"/>
              </a:lnSpc>
              <a:buClr>
                <a:srgbClr val="8AB833"/>
              </a:buClr>
              <a:buFont typeface="Arial"/>
              <a:buChar char="●"/>
            </a:pPr>
            <a:endParaRPr lang="pt-BR" sz="1350" b="1" strike="noStrike" spc="-1" dirty="0">
              <a:solidFill>
                <a:srgbClr val="233028"/>
              </a:solidFill>
              <a:latin typeface="Aptos"/>
            </a:endParaRPr>
          </a:p>
          <a:p>
            <a:pPr marL="342900" indent="-342900">
              <a:lnSpc>
                <a:spcPct val="100000"/>
              </a:lnSpc>
              <a:buClr>
                <a:srgbClr val="8AB833"/>
              </a:buClr>
              <a:buFont typeface="Arial"/>
              <a:buChar char="●"/>
            </a:pPr>
            <a:r>
              <a:rPr lang="pt-BR" sz="1350" b="1" strike="noStrike" spc="-1" dirty="0">
                <a:solidFill>
                  <a:srgbClr val="233028"/>
                </a:solidFill>
                <a:latin typeface="Aptos"/>
              </a:rPr>
              <a:t>Bateria Li-Ion 18650</a:t>
            </a:r>
            <a:r>
              <a:rPr lang="pt-BR" sz="1350" b="0" strike="noStrike" spc="-1" dirty="0">
                <a:solidFill>
                  <a:srgbClr val="595959"/>
                </a:solidFill>
                <a:latin typeface="Aptos"/>
              </a:rPr>
              <a:t> - autonomia para uso diário (13 horas)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A8A18-EE33-2F5B-80FC-AF68CB47F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SecaoTitulo">
            <a:extLst>
              <a:ext uri="{FF2B5EF4-FFF2-40B4-BE49-F238E27FC236}">
                <a16:creationId xmlns:a16="http://schemas.microsoft.com/office/drawing/2014/main" id="{F7550718-894C-CC6C-459F-5ACECAF52602}"/>
              </a:ext>
            </a:extLst>
          </p:cNvPr>
          <p:cNvSpPr txBox="1"/>
          <p:nvPr/>
        </p:nvSpPr>
        <p:spPr>
          <a:xfrm>
            <a:off x="366840" y="613800"/>
            <a:ext cx="4572000" cy="10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000" b="1" strike="noStrike" spc="-1" dirty="0">
                <a:solidFill>
                  <a:srgbClr val="688A26"/>
                </a:solidFill>
                <a:latin typeface="Aptos"/>
              </a:rPr>
              <a:t>4. </a:t>
            </a:r>
            <a:r>
              <a:rPr lang="pt-BR" sz="2300" b="1" strike="noStrike" cap="all" spc="-1" dirty="0">
                <a:solidFill>
                  <a:srgbClr val="233028"/>
                </a:solidFill>
                <a:latin typeface="Gill Sans MT"/>
              </a:rPr>
              <a:t>Material e Método</a:t>
            </a:r>
          </a:p>
        </p:txBody>
      </p:sp>
      <p:sp>
        <p:nvSpPr>
          <p:cNvPr id="401" name="LabelSW">
            <a:extLst>
              <a:ext uri="{FF2B5EF4-FFF2-40B4-BE49-F238E27FC236}">
                <a16:creationId xmlns:a16="http://schemas.microsoft.com/office/drawing/2014/main" id="{16A1C66D-CEA1-0DA2-496D-40CFCC1923E7}"/>
              </a:ext>
            </a:extLst>
          </p:cNvPr>
          <p:cNvSpPr txBox="1"/>
          <p:nvPr/>
        </p:nvSpPr>
        <p:spPr>
          <a:xfrm>
            <a:off x="366840" y="1675800"/>
            <a:ext cx="4100000" cy="340000"/>
          </a:xfrm>
          <a:prstGeom prst="rect">
            <a:avLst/>
          </a:prstGeom>
          <a:solidFill>
            <a:schemeClr val="bg2"/>
          </a:solidFill>
          <a:ln w="0">
            <a:noFill/>
          </a:ln>
        </p:spPr>
        <p:txBody>
          <a:bodyPr lIns="182880" tIns="45720" rIns="91440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pt-BR" sz="1400" b="1" strike="noStrike" spc="-1" dirty="0">
                <a:latin typeface="Gill Sans MT"/>
              </a:rPr>
              <a:t>■  SOFTWARE E MÉTODO</a:t>
            </a:r>
          </a:p>
        </p:txBody>
      </p:sp>
      <p:sp>
        <p:nvSpPr>
          <p:cNvPr id="402" name="ConteudoSW">
            <a:extLst>
              <a:ext uri="{FF2B5EF4-FFF2-40B4-BE49-F238E27FC236}">
                <a16:creationId xmlns:a16="http://schemas.microsoft.com/office/drawing/2014/main" id="{4B063702-4CF9-293D-D9F0-0786BB6404AC}"/>
              </a:ext>
            </a:extLst>
          </p:cNvPr>
          <p:cNvSpPr txBox="1"/>
          <p:nvPr/>
        </p:nvSpPr>
        <p:spPr>
          <a:xfrm>
            <a:off x="471999" y="2092701"/>
            <a:ext cx="7386125" cy="2750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342900" indent="-342900">
              <a:lnSpc>
                <a:spcPct val="100000"/>
              </a:lnSpc>
              <a:spcAft>
                <a:spcPts val="400"/>
              </a:spcAft>
              <a:buClr>
                <a:srgbClr val="8AB833"/>
              </a:buClr>
              <a:buFont typeface="Arial"/>
              <a:buChar char="●"/>
            </a:pPr>
            <a:r>
              <a:rPr lang="pt-BR" sz="1350" b="1" strike="noStrike" spc="-1" dirty="0">
                <a:solidFill>
                  <a:srgbClr val="233028"/>
                </a:solidFill>
                <a:latin typeface="Aptos"/>
              </a:rPr>
              <a:t>Aplicativo móvel</a:t>
            </a:r>
            <a:r>
              <a:rPr lang="pt-BR" sz="1350" b="0" strike="noStrike" spc="-1" dirty="0">
                <a:solidFill>
                  <a:srgbClr val="595959"/>
                </a:solidFill>
                <a:latin typeface="Aptos"/>
              </a:rPr>
              <a:t> - visualização em tempo real, mapa do pé e alertas.</a:t>
            </a:r>
          </a:p>
          <a:p>
            <a:pPr marL="342900" indent="-342900">
              <a:lnSpc>
                <a:spcPct val="100000"/>
              </a:lnSpc>
              <a:spcAft>
                <a:spcPts val="400"/>
              </a:spcAft>
              <a:buClr>
                <a:srgbClr val="8AB833"/>
              </a:buClr>
              <a:buFont typeface="Arial"/>
              <a:buChar char="●"/>
            </a:pPr>
            <a:endParaRPr lang="pt-BR" sz="1350" b="0" strike="noStrike" spc="-1" dirty="0">
              <a:solidFill>
                <a:srgbClr val="595959"/>
              </a:solidFill>
              <a:latin typeface="Aptos"/>
            </a:endParaRPr>
          </a:p>
          <a:p>
            <a:pPr marL="342900" indent="-342900">
              <a:lnSpc>
                <a:spcPct val="100000"/>
              </a:lnSpc>
              <a:spcAft>
                <a:spcPts val="400"/>
              </a:spcAft>
              <a:buClr>
                <a:srgbClr val="8AB833"/>
              </a:buClr>
              <a:buFont typeface="Arial"/>
              <a:buChar char="●"/>
            </a:pPr>
            <a:r>
              <a:rPr lang="pt-BR" sz="1350" b="1" strike="noStrike" spc="-1" dirty="0">
                <a:solidFill>
                  <a:srgbClr val="233028"/>
                </a:solidFill>
                <a:latin typeface="Aptos"/>
              </a:rPr>
              <a:t>Modelo Random Forest</a:t>
            </a:r>
            <a:r>
              <a:rPr lang="pt-BR" sz="1350" b="0" strike="noStrike" spc="-1" dirty="0">
                <a:solidFill>
                  <a:srgbClr val="595959"/>
                </a:solidFill>
                <a:latin typeface="Aptos"/>
              </a:rPr>
              <a:t> - classificação de risco.</a:t>
            </a:r>
          </a:p>
          <a:p>
            <a:pPr marL="342900" indent="-342900">
              <a:lnSpc>
                <a:spcPct val="100000"/>
              </a:lnSpc>
              <a:spcAft>
                <a:spcPts val="400"/>
              </a:spcAft>
              <a:buClr>
                <a:srgbClr val="8AB833"/>
              </a:buClr>
              <a:buFont typeface="Arial"/>
              <a:buChar char="●"/>
            </a:pPr>
            <a:endParaRPr lang="pt-BR" sz="1350" b="0" strike="noStrike" spc="-1" dirty="0">
              <a:solidFill>
                <a:srgbClr val="595959"/>
              </a:solidFill>
              <a:latin typeface="Aptos"/>
            </a:endParaRPr>
          </a:p>
          <a:p>
            <a:pPr marL="342900" indent="-342900">
              <a:lnSpc>
                <a:spcPct val="100000"/>
              </a:lnSpc>
              <a:spcAft>
                <a:spcPts val="400"/>
              </a:spcAft>
              <a:buClr>
                <a:srgbClr val="8AB833"/>
              </a:buClr>
              <a:buFont typeface="Arial"/>
              <a:buChar char="●"/>
            </a:pPr>
            <a:r>
              <a:rPr lang="pt-BR" sz="1350" b="1" strike="noStrike" spc="-1" dirty="0">
                <a:solidFill>
                  <a:srgbClr val="233028"/>
                </a:solidFill>
                <a:latin typeface="Aptos"/>
              </a:rPr>
              <a:t>Revisão sistemática PRISMA</a:t>
            </a:r>
            <a:r>
              <a:rPr lang="pt-BR" sz="1350" b="0" strike="noStrike" spc="-1" dirty="0">
                <a:solidFill>
                  <a:srgbClr val="595959"/>
                </a:solidFill>
                <a:latin typeface="Aptos"/>
              </a:rPr>
              <a:t> - 16 estudos analisados (Scopus, IEEE </a:t>
            </a:r>
            <a:r>
              <a:rPr lang="pt-BR" sz="1350" b="0" strike="noStrike" spc="-1" dirty="0" err="1">
                <a:solidFill>
                  <a:srgbClr val="595959"/>
                </a:solidFill>
                <a:latin typeface="Aptos"/>
              </a:rPr>
              <a:t>Xplore</a:t>
            </a:r>
            <a:r>
              <a:rPr lang="pt-BR" sz="1350" b="0" strike="noStrike" spc="-1" dirty="0">
                <a:solidFill>
                  <a:srgbClr val="595959"/>
                </a:solidFill>
                <a:latin typeface="Aptos"/>
              </a:rPr>
              <a:t>, </a:t>
            </a:r>
            <a:r>
              <a:rPr lang="pt-BR" sz="1350" b="0" strike="noStrike" spc="-1" dirty="0" err="1">
                <a:solidFill>
                  <a:srgbClr val="595959"/>
                </a:solidFill>
                <a:latin typeface="Aptos"/>
              </a:rPr>
              <a:t>PubMed</a:t>
            </a:r>
            <a:r>
              <a:rPr lang="pt-BR" sz="1350" b="0" strike="noStrike" spc="-1" dirty="0">
                <a:solidFill>
                  <a:srgbClr val="595959"/>
                </a:solidFill>
                <a:latin typeface="Aptos"/>
              </a:rPr>
              <a:t>).</a:t>
            </a:r>
          </a:p>
          <a:p>
            <a:pPr marL="342900" indent="-342900">
              <a:lnSpc>
                <a:spcPct val="100000"/>
              </a:lnSpc>
              <a:spcAft>
                <a:spcPts val="400"/>
              </a:spcAft>
              <a:buClr>
                <a:srgbClr val="8AB833"/>
              </a:buClr>
              <a:buFont typeface="Arial"/>
              <a:buChar char="●"/>
            </a:pPr>
            <a:endParaRPr lang="pt-BR" sz="1350" b="0" strike="noStrike" spc="-1" dirty="0">
              <a:solidFill>
                <a:srgbClr val="595959"/>
              </a:solidFill>
              <a:latin typeface="Aptos"/>
            </a:endParaRPr>
          </a:p>
          <a:p>
            <a:pPr marL="342900" indent="-342900">
              <a:lnSpc>
                <a:spcPct val="100000"/>
              </a:lnSpc>
              <a:buClr>
                <a:srgbClr val="8AB833"/>
              </a:buClr>
              <a:buFont typeface="Arial"/>
              <a:buChar char="●"/>
            </a:pPr>
            <a:r>
              <a:rPr lang="pt-BR" sz="1350" b="1" strike="noStrike" spc="-1" dirty="0">
                <a:solidFill>
                  <a:srgbClr val="233028"/>
                </a:solidFill>
                <a:latin typeface="Aptos"/>
              </a:rPr>
              <a:t>Validação clínica (próxima etapa)</a:t>
            </a:r>
            <a:r>
              <a:rPr lang="pt-BR" sz="1350" b="0" strike="noStrike" spc="-1" dirty="0">
                <a:solidFill>
                  <a:srgbClr val="595959"/>
                </a:solidFill>
                <a:latin typeface="Aptos"/>
              </a:rPr>
              <a:t> - teste piloto com pacientes e avaliação com profissionais de saúde.</a:t>
            </a:r>
          </a:p>
        </p:txBody>
      </p:sp>
    </p:spTree>
    <p:extLst>
      <p:ext uri="{BB962C8B-B14F-4D97-AF65-F5344CB8AC3E}">
        <p14:creationId xmlns:p14="http://schemas.microsoft.com/office/powerpoint/2010/main" val="137023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7">
            <a:extLst>
              <a:ext uri="{FF2B5EF4-FFF2-40B4-BE49-F238E27FC236}">
                <a16:creationId xmlns:a16="http://schemas.microsoft.com/office/drawing/2014/main" id="{C4FDB4D6-A1EC-4954-AF0B-E3769A037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9">
            <a:extLst>
              <a:ext uri="{FF2B5EF4-FFF2-40B4-BE49-F238E27FC236}">
                <a16:creationId xmlns:a16="http://schemas.microsoft.com/office/drawing/2014/main" id="{5C9F0EA0-386F-444B-80FE-60274499D6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914400" y="514350"/>
            <a:ext cx="8229600" cy="41148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6785DD6-1036-00EF-F315-B2BB66C91F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5"/>
          <a:stretch>
            <a:fillRect/>
          </a:stretch>
        </p:blipFill>
        <p:spPr>
          <a:xfrm rot="5400000">
            <a:off x="2513456" y="-1999107"/>
            <a:ext cx="4114801" cy="914171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CDF0879-5DDF-49A8-A4F6-95A1430B69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54846" y="4629150"/>
            <a:ext cx="89154" cy="5143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088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D949507-B63B-BAB0-27D8-4D1AB171F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746" y="482600"/>
            <a:ext cx="1880234" cy="41783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24A8E9F5-BEBF-2661-C2B8-92C6B1F05A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0481" y="3623595"/>
            <a:ext cx="2486842" cy="1473418"/>
          </a:xfrm>
          <a:prstGeom prst="rect">
            <a:avLst/>
          </a:prstGeom>
        </p:spPr>
      </p:pic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29608D94-09E9-E090-95CC-75F179F284F4}"/>
              </a:ext>
            </a:extLst>
          </p:cNvPr>
          <p:cNvCxnSpPr/>
          <p:nvPr/>
        </p:nvCxnSpPr>
        <p:spPr>
          <a:xfrm>
            <a:off x="1657350" y="3321844"/>
            <a:ext cx="464344" cy="2261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0E0A0371-1F99-FFFD-ABF6-6DAAFD047F33}"/>
              </a:ext>
            </a:extLst>
          </p:cNvPr>
          <p:cNvCxnSpPr>
            <a:cxnSpLocks/>
          </p:cNvCxnSpPr>
          <p:nvPr/>
        </p:nvCxnSpPr>
        <p:spPr>
          <a:xfrm>
            <a:off x="1253728" y="3746802"/>
            <a:ext cx="807244" cy="357664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6" name="Imagem 15">
            <a:extLst>
              <a:ext uri="{FF2B5EF4-FFF2-40B4-BE49-F238E27FC236}">
                <a16:creationId xmlns:a16="http://schemas.microsoft.com/office/drawing/2014/main" id="{E16F4378-B29B-9158-F3DC-4BBB756C22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776980" y="967690"/>
            <a:ext cx="3053280" cy="2107406"/>
          </a:xfrm>
          <a:prstGeom prst="rect">
            <a:avLst/>
          </a:prstGeom>
          <a:scene3d>
            <a:camera prst="orthographicFront">
              <a:rot lat="0" lon="0" rev="0"/>
            </a:camera>
            <a:lightRig rig="threePt" dir="t"/>
          </a:scene3d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01ECD7A5-3FED-C87B-882D-DE3898DFFB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1377" y="494753"/>
            <a:ext cx="2959761" cy="447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918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ecaoTitulo"/>
          <p:cNvSpPr txBox="1"/>
          <p:nvPr/>
        </p:nvSpPr>
        <p:spPr>
          <a:xfrm>
            <a:off x="366840" y="613800"/>
            <a:ext cx="4572000" cy="10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3200" b="1" strike="noStrike" spc="-1" dirty="0">
                <a:solidFill>
                  <a:srgbClr val="688A26"/>
                </a:solidFill>
                <a:latin typeface="Aptos"/>
              </a:rPr>
              <a:t>5. </a:t>
            </a:r>
            <a:r>
              <a:rPr lang="pt-BR" sz="2300" b="1" strike="noStrike" cap="all" spc="-1" dirty="0">
                <a:solidFill>
                  <a:srgbClr val="233028"/>
                </a:solidFill>
                <a:latin typeface="Gill Sans MT"/>
              </a:rPr>
              <a:t>Resultados</a:t>
            </a:r>
          </a:p>
        </p:txBody>
      </p:sp>
      <p:sp>
        <p:nvSpPr>
          <p:cNvPr id="301" name="LabelAlcancados"/>
          <p:cNvSpPr txBox="1"/>
          <p:nvPr/>
        </p:nvSpPr>
        <p:spPr>
          <a:xfrm>
            <a:off x="366840" y="1650000"/>
            <a:ext cx="4000000" cy="340000"/>
          </a:xfrm>
          <a:prstGeom prst="rect">
            <a:avLst/>
          </a:prstGeom>
          <a:solidFill>
            <a:schemeClr val="bg2"/>
          </a:solidFill>
          <a:ln w="0">
            <a:noFill/>
          </a:ln>
        </p:spPr>
        <p:txBody>
          <a:bodyPr lIns="182880" tIns="45720" rIns="91440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pt-BR" sz="1400" b="1" strike="noStrike" spc="-1" dirty="0">
                <a:latin typeface="Gill Sans MT"/>
              </a:rPr>
              <a:t>RESULTADOS ALCANÇADOS</a:t>
            </a:r>
          </a:p>
        </p:txBody>
      </p:sp>
      <p:sp>
        <p:nvSpPr>
          <p:cNvPr id="302" name="ConteudoAlcancados"/>
          <p:cNvSpPr txBox="1"/>
          <p:nvPr/>
        </p:nvSpPr>
        <p:spPr>
          <a:xfrm>
            <a:off x="366840" y="2030000"/>
            <a:ext cx="8205660" cy="2950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342900" indent="-342900">
              <a:lnSpc>
                <a:spcPct val="100000"/>
              </a:lnSpc>
              <a:spcAft>
                <a:spcPts val="500"/>
              </a:spcAft>
              <a:buClr>
                <a:srgbClr val="8AB833"/>
              </a:buClr>
              <a:buFont typeface="Arial"/>
              <a:buChar char="●"/>
            </a:pPr>
            <a:r>
              <a:rPr lang="pt-BR" sz="1400" b="1" strike="noStrike" spc="-1" dirty="0">
                <a:solidFill>
                  <a:srgbClr val="233028"/>
                </a:solidFill>
                <a:latin typeface="Aptos"/>
              </a:rPr>
              <a:t>Protótipo físico funcional</a:t>
            </a:r>
            <a:r>
              <a:rPr lang="pt-BR" sz="1400" b="0" strike="noStrike" spc="-1" dirty="0">
                <a:solidFill>
                  <a:srgbClr val="595959"/>
                </a:solidFill>
                <a:latin typeface="Aptos"/>
              </a:rPr>
              <a:t> - FSR, DHT22 e ESP32 integrados. Comunicação estável.</a:t>
            </a:r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Clr>
                <a:srgbClr val="8AB833"/>
              </a:buClr>
              <a:buFont typeface="Arial"/>
              <a:buChar char="●"/>
            </a:pPr>
            <a:endParaRPr lang="pt-BR" sz="1400" spc="-1" dirty="0">
              <a:solidFill>
                <a:srgbClr val="595959"/>
              </a:solidFill>
              <a:latin typeface="Aptos"/>
            </a:endParaRPr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Clr>
                <a:srgbClr val="8AB833"/>
              </a:buClr>
              <a:buFont typeface="Arial"/>
              <a:buChar char="●"/>
            </a:pPr>
            <a:r>
              <a:rPr lang="pt-BR" sz="1400" b="1" strike="noStrike" spc="-1" dirty="0">
                <a:solidFill>
                  <a:srgbClr val="233028"/>
                </a:solidFill>
                <a:latin typeface="Aptos"/>
              </a:rPr>
              <a:t>Leituras estáveis</a:t>
            </a:r>
            <a:r>
              <a:rPr lang="pt-BR" sz="1400" b="0" strike="noStrike" spc="-1" dirty="0">
                <a:solidFill>
                  <a:srgbClr val="595959"/>
                </a:solidFill>
                <a:latin typeface="Aptos"/>
              </a:rPr>
              <a:t> - variação dos sensores normalizadas via código.</a:t>
            </a:r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Clr>
                <a:srgbClr val="8AB833"/>
              </a:buClr>
              <a:buFont typeface="Arial"/>
              <a:buChar char="●"/>
            </a:pPr>
            <a:endParaRPr lang="pt-BR" sz="1400" b="0" strike="noStrike" spc="-1" dirty="0">
              <a:solidFill>
                <a:srgbClr val="595959"/>
              </a:solidFill>
              <a:latin typeface="Aptos"/>
            </a:endParaRPr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Clr>
                <a:srgbClr val="8AB833"/>
              </a:buClr>
              <a:buFont typeface="Arial"/>
              <a:buChar char="●"/>
            </a:pPr>
            <a:r>
              <a:rPr lang="pt-BR" sz="1400" b="1" strike="noStrike" spc="-1" dirty="0">
                <a:solidFill>
                  <a:srgbClr val="233028"/>
                </a:solidFill>
                <a:latin typeface="Aptos"/>
              </a:rPr>
              <a:t>Aplicativo operacional</a:t>
            </a:r>
            <a:r>
              <a:rPr lang="pt-BR" sz="1400" b="0" strike="noStrike" spc="-1" dirty="0">
                <a:solidFill>
                  <a:srgbClr val="595959"/>
                </a:solidFill>
                <a:latin typeface="Aptos"/>
              </a:rPr>
              <a:t> - mapa do pé, alertas e visualização em tempo real validados em bancada.</a:t>
            </a:r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Clr>
                <a:srgbClr val="8AB833"/>
              </a:buClr>
              <a:buFont typeface="Arial"/>
              <a:buChar char="●"/>
            </a:pPr>
            <a:endParaRPr lang="pt-BR" sz="1400" b="1" strike="noStrike" spc="-1" dirty="0">
              <a:solidFill>
                <a:srgbClr val="233028"/>
              </a:solidFill>
              <a:latin typeface="Aptos"/>
            </a:endParaRPr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Clr>
                <a:srgbClr val="8AB833"/>
              </a:buClr>
              <a:buFont typeface="Arial"/>
              <a:buChar char="●"/>
            </a:pPr>
            <a:r>
              <a:rPr lang="pt-BR" sz="1400" b="1" strike="noStrike" spc="-1" dirty="0">
                <a:solidFill>
                  <a:srgbClr val="233028"/>
                </a:solidFill>
                <a:latin typeface="Aptos"/>
              </a:rPr>
              <a:t>Revisão PRISMA -</a:t>
            </a:r>
            <a:r>
              <a:rPr lang="pt-BR" sz="1400" b="0" strike="noStrike" spc="-1" dirty="0">
                <a:solidFill>
                  <a:srgbClr val="595959"/>
                </a:solidFill>
                <a:latin typeface="Aptos"/>
              </a:rPr>
              <a:t> 16 estudos analisados. Lacunas mapeadas e contribuições propostas</a:t>
            </a:r>
          </a:p>
          <a:p>
            <a:pPr marL="342900" indent="-342900">
              <a:lnSpc>
                <a:spcPct val="100000"/>
              </a:lnSpc>
              <a:buClr>
                <a:srgbClr val="8AB833"/>
              </a:buClr>
              <a:buFont typeface="Arial"/>
              <a:buChar char="●"/>
            </a:pPr>
            <a:endParaRPr lang="pt-BR" sz="1400" b="1" strike="noStrike" spc="-1" dirty="0">
              <a:solidFill>
                <a:srgbClr val="233028"/>
              </a:solidFill>
              <a:latin typeface="Aptos"/>
            </a:endParaRPr>
          </a:p>
          <a:p>
            <a:pPr marL="342900" indent="-342900">
              <a:lnSpc>
                <a:spcPct val="100000"/>
              </a:lnSpc>
              <a:buClr>
                <a:srgbClr val="8AB833"/>
              </a:buClr>
              <a:buFont typeface="Arial"/>
              <a:buChar char="●"/>
            </a:pPr>
            <a:r>
              <a:rPr lang="pt-BR" sz="1400" b="1" strike="noStrike" spc="-1" dirty="0">
                <a:solidFill>
                  <a:srgbClr val="233028"/>
                </a:solidFill>
                <a:latin typeface="Aptos"/>
              </a:rPr>
              <a:t>Custo </a:t>
            </a:r>
            <a:r>
              <a:rPr lang="pt-BR" sz="1400" b="0" strike="noStrike" spc="-1" dirty="0">
                <a:solidFill>
                  <a:srgbClr val="595959"/>
                </a:solidFill>
                <a:latin typeface="Aptos"/>
              </a:rPr>
              <a:t>- R$ 337,65 por unidade, com base em orçamentos reais no mercado nacional.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86A8F-5766-6F6B-1E4D-5B4336BA8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ecaoTitulo">
            <a:extLst>
              <a:ext uri="{FF2B5EF4-FFF2-40B4-BE49-F238E27FC236}">
                <a16:creationId xmlns:a16="http://schemas.microsoft.com/office/drawing/2014/main" id="{79023D12-155B-427E-CF75-64B647AB2A78}"/>
              </a:ext>
            </a:extLst>
          </p:cNvPr>
          <p:cNvSpPr txBox="1"/>
          <p:nvPr/>
        </p:nvSpPr>
        <p:spPr>
          <a:xfrm>
            <a:off x="366840" y="613800"/>
            <a:ext cx="4572000" cy="10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3200" b="1" strike="noStrike" spc="-1" dirty="0">
                <a:solidFill>
                  <a:srgbClr val="688A26"/>
                </a:solidFill>
                <a:latin typeface="Aptos"/>
              </a:rPr>
              <a:t>5. </a:t>
            </a:r>
            <a:r>
              <a:rPr lang="pt-BR" sz="2300" b="1" strike="noStrike" cap="all" spc="-1" dirty="0">
                <a:solidFill>
                  <a:srgbClr val="233028"/>
                </a:solidFill>
                <a:latin typeface="Gill Sans MT"/>
              </a:rPr>
              <a:t>Resultados</a:t>
            </a:r>
          </a:p>
        </p:txBody>
      </p:sp>
      <p:sp>
        <p:nvSpPr>
          <p:cNvPr id="401" name="LabelProximas">
            <a:extLst>
              <a:ext uri="{FF2B5EF4-FFF2-40B4-BE49-F238E27FC236}">
                <a16:creationId xmlns:a16="http://schemas.microsoft.com/office/drawing/2014/main" id="{EA46E620-7915-8E7E-D321-0C0C00F1CF04}"/>
              </a:ext>
            </a:extLst>
          </p:cNvPr>
          <p:cNvSpPr txBox="1"/>
          <p:nvPr/>
        </p:nvSpPr>
        <p:spPr>
          <a:xfrm>
            <a:off x="366840" y="1481900"/>
            <a:ext cx="2800000" cy="34000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txBody>
          <a:bodyPr lIns="182880" tIns="45720" rIns="91440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pt-BR" sz="1400" b="1" strike="noStrike" spc="-1" dirty="0">
                <a:latin typeface="Gill Sans MT"/>
              </a:rPr>
              <a:t>PRÓXIMAS ETAPAS</a:t>
            </a:r>
          </a:p>
        </p:txBody>
      </p:sp>
      <p:sp>
        <p:nvSpPr>
          <p:cNvPr id="402" name="ConteudoProximas">
            <a:extLst>
              <a:ext uri="{FF2B5EF4-FFF2-40B4-BE49-F238E27FC236}">
                <a16:creationId xmlns:a16="http://schemas.microsoft.com/office/drawing/2014/main" id="{4E3EF9A8-86EF-74BC-D6D6-99026769F1F2}"/>
              </a:ext>
            </a:extLst>
          </p:cNvPr>
          <p:cNvSpPr txBox="1"/>
          <p:nvPr/>
        </p:nvSpPr>
        <p:spPr>
          <a:xfrm>
            <a:off x="366839" y="1979700"/>
            <a:ext cx="7491285" cy="2550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342900" indent="-342900">
              <a:lnSpc>
                <a:spcPct val="100000"/>
              </a:lnSpc>
              <a:spcAft>
                <a:spcPts val="500"/>
              </a:spcAft>
              <a:buClr>
                <a:srgbClr val="595959"/>
              </a:buClr>
              <a:buFont typeface="Arial"/>
              <a:buChar char="○"/>
            </a:pPr>
            <a:r>
              <a:rPr lang="pt-BR" sz="1400" b="1" strike="noStrike" spc="-1" dirty="0">
                <a:solidFill>
                  <a:srgbClr val="595959"/>
                </a:solidFill>
                <a:latin typeface="Aptos"/>
              </a:rPr>
              <a:t>Calibração com </a:t>
            </a:r>
            <a:r>
              <a:rPr lang="pt-BR" sz="1400" b="1" strike="noStrike" spc="-1" dirty="0" err="1">
                <a:solidFill>
                  <a:srgbClr val="595959"/>
                </a:solidFill>
                <a:latin typeface="Aptos"/>
              </a:rPr>
              <a:t>baropodômetro</a:t>
            </a:r>
            <a:r>
              <a:rPr lang="pt-BR" sz="1400" b="0" strike="noStrike" spc="-1" dirty="0">
                <a:solidFill>
                  <a:srgbClr val="595959"/>
                </a:solidFill>
                <a:latin typeface="Aptos"/>
              </a:rPr>
              <a:t> - validação da precisão dos sensores em relação ao padrão clínico.</a:t>
            </a:r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Clr>
                <a:srgbClr val="595959"/>
              </a:buClr>
              <a:buFont typeface="Arial"/>
              <a:buChar char="○"/>
            </a:pPr>
            <a:endParaRPr lang="pt-BR" sz="1400" b="0" strike="noStrike" spc="-1" dirty="0">
              <a:solidFill>
                <a:srgbClr val="595959"/>
              </a:solidFill>
              <a:latin typeface="Aptos"/>
            </a:endParaRPr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Clr>
                <a:srgbClr val="595959"/>
              </a:buClr>
              <a:buFont typeface="Arial"/>
              <a:buChar char="○"/>
            </a:pPr>
            <a:r>
              <a:rPr lang="pt-BR" sz="1400" b="1" strike="noStrike" spc="-1" dirty="0">
                <a:solidFill>
                  <a:srgbClr val="595959"/>
                </a:solidFill>
                <a:latin typeface="Aptos"/>
              </a:rPr>
              <a:t>Submissão ao CEP</a:t>
            </a:r>
            <a:r>
              <a:rPr lang="pt-BR" sz="1400" b="0" strike="noStrike" spc="-1" dirty="0">
                <a:solidFill>
                  <a:srgbClr val="595959"/>
                </a:solidFill>
                <a:latin typeface="Aptos"/>
              </a:rPr>
              <a:t> - pré-requisito para a etapa clínica</a:t>
            </a:r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Clr>
                <a:srgbClr val="595959"/>
              </a:buClr>
              <a:buFont typeface="Arial"/>
              <a:buChar char="○"/>
            </a:pPr>
            <a:endParaRPr lang="pt-BR" sz="1400" b="0" strike="noStrike" spc="-1" dirty="0">
              <a:solidFill>
                <a:srgbClr val="595959"/>
              </a:solidFill>
              <a:latin typeface="Aptos"/>
            </a:endParaRPr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Clr>
                <a:srgbClr val="595959"/>
              </a:buClr>
              <a:buFont typeface="Arial"/>
              <a:buChar char="○"/>
            </a:pPr>
            <a:r>
              <a:rPr lang="pt-BR" sz="1400" b="1" strike="noStrike" spc="-1" dirty="0">
                <a:solidFill>
                  <a:srgbClr val="595959"/>
                </a:solidFill>
                <a:latin typeface="Aptos"/>
              </a:rPr>
              <a:t>Coleta com pacientes </a:t>
            </a:r>
            <a:r>
              <a:rPr lang="pt-BR" sz="1400" b="0" strike="noStrike" spc="-1" dirty="0">
                <a:solidFill>
                  <a:srgbClr val="595959"/>
                </a:solidFill>
                <a:latin typeface="Aptos"/>
              </a:rPr>
              <a:t>- teste piloto com participantes</a:t>
            </a:r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Clr>
                <a:srgbClr val="595959"/>
              </a:buClr>
              <a:buFont typeface="Arial"/>
              <a:buChar char="○"/>
            </a:pPr>
            <a:endParaRPr lang="pt-BR" sz="1400" b="0" strike="noStrike" spc="-1" dirty="0">
              <a:solidFill>
                <a:srgbClr val="595959"/>
              </a:solidFill>
              <a:latin typeface="Aptos"/>
            </a:endParaRPr>
          </a:p>
          <a:p>
            <a:pPr marL="342900" indent="-342900">
              <a:lnSpc>
                <a:spcPct val="100000"/>
              </a:lnSpc>
              <a:buClr>
                <a:srgbClr val="595959"/>
              </a:buClr>
              <a:buFont typeface="Arial"/>
              <a:buChar char="○"/>
            </a:pPr>
            <a:r>
              <a:rPr lang="pt-BR" sz="1400" b="1" strike="noStrike" spc="-1" dirty="0">
                <a:solidFill>
                  <a:srgbClr val="595959"/>
                </a:solidFill>
                <a:latin typeface="Aptos"/>
              </a:rPr>
              <a:t>Treinamento e validação do modelo RF</a:t>
            </a:r>
            <a:r>
              <a:rPr lang="pt-BR" sz="1400" b="0" strike="noStrike" spc="-1" dirty="0">
                <a:solidFill>
                  <a:srgbClr val="595959"/>
                </a:solidFill>
                <a:latin typeface="Aptos"/>
              </a:rPr>
              <a:t> - com dados reais coletados, avaliação de acurácia, sensibilidade e especificidade.</a:t>
            </a:r>
          </a:p>
        </p:txBody>
      </p:sp>
    </p:spTree>
    <p:extLst>
      <p:ext uri="{BB962C8B-B14F-4D97-AF65-F5344CB8AC3E}">
        <p14:creationId xmlns:p14="http://schemas.microsoft.com/office/powerpoint/2010/main" val="4466886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SecaoTitulo"/>
          <p:cNvSpPr txBox="1"/>
          <p:nvPr/>
        </p:nvSpPr>
        <p:spPr>
          <a:xfrm>
            <a:off x="366840" y="613800"/>
            <a:ext cx="4572000" cy="10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3200" b="1" strike="noStrike" spc="-1" dirty="0">
                <a:solidFill>
                  <a:srgbClr val="688A26"/>
                </a:solidFill>
                <a:latin typeface="Aptos"/>
              </a:rPr>
              <a:t>6. </a:t>
            </a:r>
            <a:r>
              <a:rPr lang="pt-BR" sz="2300" b="1" strike="noStrike" cap="all" spc="-1" dirty="0">
                <a:solidFill>
                  <a:srgbClr val="233028"/>
                </a:solidFill>
                <a:latin typeface="Gill Sans MT"/>
              </a:rPr>
              <a:t>Discussão</a:t>
            </a:r>
          </a:p>
        </p:txBody>
      </p:sp>
      <p:sp>
        <p:nvSpPr>
          <p:cNvPr id="301" name="Bloco1"/>
          <p:cNvSpPr txBox="1"/>
          <p:nvPr/>
        </p:nvSpPr>
        <p:spPr>
          <a:xfrm>
            <a:off x="366840" y="1620000"/>
            <a:ext cx="8400000" cy="750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pt-BR" sz="1250" b="1" strike="noStrike" spc="-1" dirty="0">
                <a:solidFill>
                  <a:srgbClr val="8AB833"/>
                </a:solidFill>
                <a:latin typeface="Gill Sans MT"/>
              </a:rPr>
              <a:t>■  </a:t>
            </a:r>
            <a:r>
              <a:rPr lang="pt-BR" sz="1250" b="1" strike="noStrike" spc="-1" dirty="0">
                <a:latin typeface="Gill Sans MT"/>
              </a:rPr>
              <a:t>VIABILIDADE ECONÔMICA</a:t>
            </a:r>
          </a:p>
          <a:p>
            <a:pPr algn="l">
              <a:lnSpc>
                <a:spcPct val="110000"/>
              </a:lnSpc>
            </a:pPr>
            <a:r>
              <a:rPr lang="pt-BR" sz="1050" b="0" strike="noStrike" spc="-1" dirty="0">
                <a:solidFill>
                  <a:srgbClr val="595959"/>
                </a:solidFill>
                <a:latin typeface="Aptos"/>
              </a:rPr>
              <a:t>Custo de </a:t>
            </a:r>
            <a:r>
              <a:rPr lang="pt-BR" sz="1050" b="1" strike="noStrike" spc="-1" dirty="0">
                <a:solidFill>
                  <a:srgbClr val="233028"/>
                </a:solidFill>
                <a:latin typeface="Aptos"/>
              </a:rPr>
              <a:t>R$ 337,65/unidade</a:t>
            </a:r>
            <a:r>
              <a:rPr lang="pt-BR" sz="1050" b="0" strike="noStrike" spc="-1" dirty="0">
                <a:solidFill>
                  <a:srgbClr val="595959"/>
                </a:solidFill>
                <a:latin typeface="Aptos"/>
              </a:rPr>
              <a:t> compatível com </a:t>
            </a:r>
            <a:r>
              <a:rPr lang="pt-BR" sz="1050" b="0" strike="noStrike" spc="-1" dirty="0" err="1">
                <a:solidFill>
                  <a:srgbClr val="595959"/>
                </a:solidFill>
                <a:latin typeface="Aptos"/>
              </a:rPr>
              <a:t>Khandakar</a:t>
            </a:r>
            <a:r>
              <a:rPr lang="pt-BR" sz="1050" b="0" strike="noStrike" spc="-1" dirty="0">
                <a:solidFill>
                  <a:srgbClr val="595959"/>
                </a:solidFill>
                <a:latin typeface="Aptos"/>
              </a:rPr>
              <a:t> et al. (2022) (</a:t>
            </a:r>
            <a:r>
              <a:rPr lang="pt-BR" sz="1050" b="1" strike="noStrike" spc="-1" dirty="0">
                <a:solidFill>
                  <a:srgbClr val="233028"/>
                </a:solidFill>
                <a:latin typeface="Aptos"/>
              </a:rPr>
              <a:t>US$ 170/unidade</a:t>
            </a:r>
            <a:r>
              <a:rPr lang="pt-BR" sz="1050" b="0" strike="noStrike" spc="-1" dirty="0">
                <a:solidFill>
                  <a:srgbClr val="595959"/>
                </a:solidFill>
                <a:latin typeface="Aptos"/>
              </a:rPr>
              <a:t>). </a:t>
            </a:r>
          </a:p>
          <a:p>
            <a:pPr algn="l">
              <a:lnSpc>
                <a:spcPct val="110000"/>
              </a:lnSpc>
            </a:pPr>
            <a:endParaRPr lang="pt-BR" sz="1050" b="0" strike="noStrike" spc="-1" dirty="0">
              <a:solidFill>
                <a:srgbClr val="595959"/>
              </a:solidFill>
              <a:latin typeface="Aptos"/>
            </a:endParaRPr>
          </a:p>
        </p:txBody>
      </p:sp>
      <p:sp>
        <p:nvSpPr>
          <p:cNvPr id="401" name="Bloco2"/>
          <p:cNvSpPr txBox="1"/>
          <p:nvPr/>
        </p:nvSpPr>
        <p:spPr>
          <a:xfrm>
            <a:off x="366840" y="2450000"/>
            <a:ext cx="8400000" cy="780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pt-BR" sz="1250" b="1" strike="noStrike" spc="-1" dirty="0">
                <a:solidFill>
                  <a:srgbClr val="8AB833"/>
                </a:solidFill>
                <a:latin typeface="Gill Sans MT"/>
              </a:rPr>
              <a:t>■  </a:t>
            </a:r>
            <a:r>
              <a:rPr lang="pt-BR" sz="1250" b="1" strike="noStrike" spc="-1" dirty="0">
                <a:latin typeface="Gill Sans MT"/>
              </a:rPr>
              <a:t>UMIDADE COMO VARIÁVEL PREDITIVA</a:t>
            </a:r>
          </a:p>
          <a:p>
            <a:pPr>
              <a:lnSpc>
                <a:spcPct val="110000"/>
              </a:lnSpc>
            </a:pPr>
            <a:r>
              <a:rPr lang="pt-BR" sz="1050" b="0" strike="noStrike" spc="-1" dirty="0">
                <a:solidFill>
                  <a:srgbClr val="595959"/>
                </a:solidFill>
                <a:latin typeface="Aptos"/>
              </a:rPr>
              <a:t>Apenas 3 dos 16 estudos revisados integram pressão, temperatura e umidade num único dispositivo e nenhum detalha o peso isolado da umidade no modelo. </a:t>
            </a:r>
            <a:r>
              <a:rPr lang="pt-BR" sz="1050" b="0" strike="noStrike" spc="-1" dirty="0" err="1">
                <a:solidFill>
                  <a:srgbClr val="595959"/>
                </a:solidFill>
                <a:latin typeface="Aptos"/>
              </a:rPr>
              <a:t>Kosaji</a:t>
            </a:r>
            <a:r>
              <a:rPr lang="pt-BR" sz="1050" b="0" strike="noStrike" spc="-1" dirty="0">
                <a:solidFill>
                  <a:srgbClr val="595959"/>
                </a:solidFill>
                <a:latin typeface="Aptos"/>
              </a:rPr>
              <a:t> et al. (2025) associa umidade excessiva ao risco de maceração em neuropatia periférica.</a:t>
            </a:r>
          </a:p>
        </p:txBody>
      </p:sp>
      <p:sp>
        <p:nvSpPr>
          <p:cNvPr id="501" name="Bloco3"/>
          <p:cNvSpPr txBox="1"/>
          <p:nvPr/>
        </p:nvSpPr>
        <p:spPr>
          <a:xfrm>
            <a:off x="366840" y="3310000"/>
            <a:ext cx="8400000" cy="89695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pt-BR" sz="1250" b="1" strike="noStrike" spc="-1" dirty="0">
                <a:solidFill>
                  <a:srgbClr val="8AB833"/>
                </a:solidFill>
                <a:latin typeface="Gill Sans MT"/>
              </a:rPr>
              <a:t>■  </a:t>
            </a:r>
            <a:r>
              <a:rPr lang="pt-BR" sz="1250" b="1" strike="noStrike" spc="-1" dirty="0">
                <a:solidFill>
                  <a:schemeClr val="tx2"/>
                </a:solidFill>
                <a:latin typeface="Gill Sans MT"/>
              </a:rPr>
              <a:t>VALIDADE EXTERNA</a:t>
            </a:r>
          </a:p>
          <a:p>
            <a:pPr>
              <a:lnSpc>
                <a:spcPct val="110000"/>
              </a:lnSpc>
            </a:pPr>
            <a:r>
              <a:rPr lang="pt-BR" sz="1050" b="0" strike="noStrike" spc="-1" dirty="0">
                <a:solidFill>
                  <a:srgbClr val="595959"/>
                </a:solidFill>
                <a:latin typeface="Aptos"/>
              </a:rPr>
              <a:t>A maioria dos estudos valida sistemas com voluntários saudáveis em laboratório. Chatwin et al. (2020) identificam isso como o principal limite da área. Este trabalho prevê testes com pacientes diabéticos em uso real, calçados, em condições diárias: cenário ainda não coberto de forma sistemática pela literatura.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SecaoTitulo"/>
          <p:cNvSpPr txBox="1"/>
          <p:nvPr/>
        </p:nvSpPr>
        <p:spPr>
          <a:xfrm>
            <a:off x="581400" y="675360"/>
            <a:ext cx="4594680" cy="9388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3200" b="1" strike="noStrike" spc="-1" dirty="0">
                <a:solidFill>
                  <a:srgbClr val="688A26"/>
                </a:solidFill>
                <a:latin typeface="Aptos"/>
              </a:rPr>
              <a:t>7. </a:t>
            </a:r>
            <a:r>
              <a:rPr lang="pt-BR" sz="2300" b="1" strike="noStrike" cap="all" spc="-1" dirty="0">
                <a:solidFill>
                  <a:srgbClr val="233028"/>
                </a:solidFill>
                <a:latin typeface="Gill Sans MT"/>
              </a:rPr>
              <a:t>Conclusão</a:t>
            </a:r>
          </a:p>
        </p:txBody>
      </p:sp>
      <p:sp>
        <p:nvSpPr>
          <p:cNvPr id="301" name="FraseSintese"/>
          <p:cNvSpPr txBox="1"/>
          <p:nvPr/>
        </p:nvSpPr>
        <p:spPr>
          <a:xfrm>
            <a:off x="800000" y="1650000"/>
            <a:ext cx="7600000" cy="700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pt-BR" sz="1800" b="0" strike="noStrike" spc="-1" dirty="0">
                <a:solidFill>
                  <a:srgbClr val="455F51"/>
                </a:solidFill>
                <a:latin typeface="Gill Sans MT"/>
              </a:rPr>
              <a:t>Este trabalho propõe uma arquitetura de baixo custo tecnicamente e financeiramente viável para o monitoramento preventivo do pé diabético no contexto do SUS.</a:t>
            </a:r>
          </a:p>
        </p:txBody>
      </p:sp>
      <p:sp>
        <p:nvSpPr>
          <p:cNvPr id="350" name="Divisor"/>
          <p:cNvSpPr>
            <a:spLocks noGrp="1"/>
          </p:cNvSpPr>
          <p:nvPr/>
        </p:nvSpPr>
        <p:spPr>
          <a:xfrm>
            <a:off x="1500000" y="2450000"/>
            <a:ext cx="6200000" cy="18000"/>
          </a:xfrm>
          <a:prstGeom prst="rect">
            <a:avLst/>
          </a:prstGeom>
          <a:solidFill>
            <a:srgbClr val="8AB833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01" name="ConclusoesOBJ"/>
          <p:cNvSpPr txBox="1"/>
          <p:nvPr/>
        </p:nvSpPr>
        <p:spPr>
          <a:xfrm>
            <a:off x="700000" y="2530000"/>
            <a:ext cx="7800000" cy="1900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  <a:buClr>
                <a:srgbClr val="8AB833"/>
              </a:buClr>
            </a:pPr>
            <a:r>
              <a:rPr lang="pt-BR" sz="1400" b="1" strike="noStrike" spc="-1" dirty="0">
                <a:solidFill>
                  <a:srgbClr val="233028"/>
                </a:solidFill>
                <a:latin typeface="Aptos"/>
              </a:rPr>
              <a:t>Palmilha instrumentada</a:t>
            </a:r>
            <a:r>
              <a:rPr lang="pt-BR" sz="1400" b="0" strike="noStrike" spc="-1" dirty="0">
                <a:solidFill>
                  <a:srgbClr val="595959"/>
                </a:solidFill>
                <a:latin typeface="Aptos"/>
              </a:rPr>
              <a:t>- protótipo com FSR, DHT22 e ESP32 construído e validado em bancada, com comunicação BLE estável.</a:t>
            </a:r>
          </a:p>
          <a:p>
            <a:pPr>
              <a:lnSpc>
                <a:spcPct val="100000"/>
              </a:lnSpc>
              <a:spcAft>
                <a:spcPts val="500"/>
              </a:spcAft>
              <a:buClr>
                <a:srgbClr val="8AB833"/>
              </a:buClr>
            </a:pPr>
            <a:endParaRPr lang="pt-BR" sz="1400" b="0" strike="noStrike" spc="-1" dirty="0">
              <a:solidFill>
                <a:srgbClr val="595959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500"/>
              </a:spcAft>
              <a:buClr>
                <a:srgbClr val="8AB833"/>
              </a:buClr>
            </a:pPr>
            <a:r>
              <a:rPr lang="pt-BR" sz="1400" b="1" strike="noStrike" spc="-1" dirty="0">
                <a:solidFill>
                  <a:srgbClr val="233028"/>
                </a:solidFill>
                <a:latin typeface="Aptos"/>
              </a:rPr>
              <a:t>Aplicativo móvel </a:t>
            </a:r>
            <a:r>
              <a:rPr lang="pt-BR" sz="1400" b="0" strike="noStrike" spc="-1" dirty="0">
                <a:solidFill>
                  <a:srgbClr val="595959"/>
                </a:solidFill>
                <a:latin typeface="Aptos"/>
              </a:rPr>
              <a:t>- interface HTML5 desenvolvida, com mapa do pé, alertas configuráveis e visualização em tempo real validados em bancada.</a:t>
            </a:r>
          </a:p>
          <a:p>
            <a:pPr>
              <a:lnSpc>
                <a:spcPct val="100000"/>
              </a:lnSpc>
              <a:spcAft>
                <a:spcPts val="500"/>
              </a:spcAft>
              <a:buClr>
                <a:srgbClr val="8AB833"/>
              </a:buClr>
            </a:pPr>
            <a:endParaRPr lang="pt-BR" sz="1400" b="0" strike="noStrike" spc="-1" dirty="0">
              <a:solidFill>
                <a:srgbClr val="595959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500"/>
              </a:spcAft>
              <a:buClr>
                <a:srgbClr val="8AB833"/>
              </a:buClr>
            </a:pPr>
            <a:r>
              <a:rPr lang="pt-BR" sz="1400" b="1" strike="noStrike" spc="-1" dirty="0">
                <a:solidFill>
                  <a:srgbClr val="233028"/>
                </a:solidFill>
                <a:latin typeface="Aptos"/>
              </a:rPr>
              <a:t>Modelo preditivo </a:t>
            </a:r>
            <a:r>
              <a:rPr lang="pt-BR" sz="1400" b="0" strike="noStrike" spc="-1" dirty="0">
                <a:solidFill>
                  <a:srgbClr val="595959"/>
                </a:solidFill>
                <a:latin typeface="Aptos"/>
              </a:rPr>
              <a:t>- especificado e fundamentado na literatura.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254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7862</TotalTime>
  <Words>666</Words>
  <Application>Microsoft Office PowerPoint</Application>
  <PresentationFormat>Apresentação na tela (16:9)</PresentationFormat>
  <Paragraphs>78</Paragraphs>
  <Slides>13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11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13</vt:i4>
      </vt:variant>
    </vt:vector>
  </HeadingPairs>
  <TitlesOfParts>
    <vt:vector size="28" baseType="lpstr">
      <vt:lpstr>Aptos</vt:lpstr>
      <vt:lpstr>Arial</vt:lpstr>
      <vt:lpstr>Georgia</vt:lpstr>
      <vt:lpstr>Gill Sans MT</vt:lpstr>
      <vt:lpstr>Helvetica Neue Medium</vt:lpstr>
      <vt:lpstr>Nunito sans</vt:lpstr>
      <vt:lpstr>Nunito sans</vt:lpstr>
      <vt:lpstr>OpenSymbol</vt:lpstr>
      <vt:lpstr>Symbol</vt:lpstr>
      <vt:lpstr>Times New Roman</vt:lpstr>
      <vt:lpstr>Wingdings</vt:lpstr>
      <vt:lpstr>Office</vt:lpstr>
      <vt:lpstr>Office</vt:lpstr>
      <vt:lpstr>Office</vt:lpstr>
      <vt:lpstr>Office</vt:lpstr>
      <vt:lpstr>Arquitetura de baixo custo para monitoramento preventivo do pé diabético: proposta de sistema com sensores e modelo preditivo baseado em Random Forest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Chrysthian Chrisley</dc:creator>
  <cp:lastModifiedBy>Chrysthian Chrisley</cp:lastModifiedBy>
  <cp:revision>5</cp:revision>
  <dcterms:modified xsi:type="dcterms:W3CDTF">2026-04-11T19:35:05Z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Alexandra Monteiro</dc:creator>
  <dc:description/>
  <dc:language>en-US</dc:language>
  <cp:lastModifiedBy>Universidade do Estado do Rio de Janeiro - Telessaúde</cp:lastModifiedBy>
  <dcterms:modified xsi:type="dcterms:W3CDTF">2026-01-26T18:13:03Z</dcterms:modified>
  <cp:revision>60</cp:revision>
  <dc:subject/>
  <dc:title>THIS IS YOUR PRESENTATION (OR SLIDEDOC) TITLE</dc:title>
</cp:coreProperties>
</file>